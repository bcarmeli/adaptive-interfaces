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E6789"/>
          </a:solidFill>
          <a:ln>
            <a:solidFill>
              <a:srgbClr val="1E6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71A1C"/>
                </a:solidFill>
                <a:latin typeface="Aptos Display"/>
              </a:rPr>
              <a:t>Example: Interviewing an Agent-Skill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78992"/>
            <a:ext cx="101498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3676B"/>
                </a:solidFill>
                <a:latin typeface="Aptos"/>
              </a:rPr>
              <a:t>A concrete example of partner selection, affordance exposure, and high-stakes interaction.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3429000"/>
          </a:xfrm>
          <a:prstGeom prst="roundRect">
            <a:avLst/>
          </a:prstGeom>
          <a:solidFill>
            <a:srgbClr val="F3EFE8"/>
          </a:solidFill>
          <a:ln>
            <a:solidFill>
              <a:srgbClr val="F3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48256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71A1C"/>
                </a:solidFill>
                <a:latin typeface="Aptos Display"/>
              </a:rPr>
              <a:t>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42032"/>
            <a:ext cx="28346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/>
            <a:r>
              <a:rPr sz="1800">
                <a:solidFill>
                  <a:srgbClr val="171A1C"/>
                </a:solidFill>
                <a:latin typeface="Aptos"/>
              </a:rPr>
              <a:t>A calling agent must choose the best skill-agent for a task</a:t>
            </a:r>
          </a:p>
          <a:p>
            <a:pPr/>
            <a:r>
              <a:rPr sz="1800">
                <a:solidFill>
                  <a:srgbClr val="171A1C"/>
                </a:solidFill>
                <a:latin typeface="Aptos"/>
              </a:rPr>
              <a:t>Each skill-agent has rich latent capabilities</a:t>
            </a:r>
          </a:p>
          <a:p>
            <a:pPr/>
            <a:r>
              <a:rPr sz="1800">
                <a:solidFill>
                  <a:srgbClr val="171A1C"/>
                </a:solidFill>
                <a:latin typeface="Aptos"/>
              </a:rPr>
              <a:t>But the caller sees only what the skill-agent exposes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3520440" cy="3429000"/>
          </a:xfrm>
          <a:prstGeom prst="roundRect">
            <a:avLst/>
          </a:prstGeom>
          <a:solidFill>
            <a:srgbClr val="E7F0F4"/>
          </a:solidFill>
          <a:ln>
            <a:solidFill>
              <a:srgbClr val="E7F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04825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71A1C"/>
                </a:solidFill>
                <a:latin typeface="Aptos Display"/>
              </a:rPr>
              <a:t>Interview = Warm-up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542032"/>
            <a:ext cx="28803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/>
            <a:r>
              <a:rPr sz="1800">
                <a:solidFill>
                  <a:srgbClr val="171A1C"/>
                </a:solidFill>
                <a:latin typeface="Aptos"/>
              </a:rPr>
              <a:t>The caller probes several candidate skill-agents</a:t>
            </a:r>
          </a:p>
          <a:p>
            <a:pPr/>
            <a:r>
              <a:rPr sz="1800">
                <a:solidFill>
                  <a:srgbClr val="171A1C"/>
                </a:solidFill>
                <a:latin typeface="Aptos"/>
              </a:rPr>
              <a:t>Candidates respond with explanations, examples, and usage guidance</a:t>
            </a:r>
          </a:p>
          <a:p>
            <a:pPr/>
            <a:r>
              <a:rPr sz="1800">
                <a:solidFill>
                  <a:srgbClr val="171A1C"/>
                </a:solidFill>
                <a:latin typeface="Aptos"/>
              </a:rPr>
              <a:t>Selection is based on the interface, not direct access to capability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828800"/>
            <a:ext cx="3520440" cy="3429000"/>
          </a:xfrm>
          <a:prstGeom prst="roundRect">
            <a:avLst/>
          </a:prstGeom>
          <a:solidFill>
            <a:srgbClr val="E5EFE5"/>
          </a:solidFill>
          <a:ln>
            <a:solidFill>
              <a:srgbClr val="E5E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04825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71A1C"/>
                </a:solidFill>
                <a:latin typeface="Aptos Display"/>
              </a:rPr>
              <a:t>After Hiring =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542032"/>
            <a:ext cx="28803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/>
            <a:r>
              <a:rPr sz="1800">
                <a:solidFill>
                  <a:srgbClr val="171A1C"/>
                </a:solidFill>
                <a:latin typeface="Aptos"/>
              </a:rPr>
              <a:t>The selected skill-agent is used in the real task</a:t>
            </a:r>
          </a:p>
          <a:p>
            <a:pPr/>
            <a:r>
              <a:rPr sz="1800">
                <a:solidFill>
                  <a:srgbClr val="171A1C"/>
                </a:solidFill>
                <a:latin typeface="Aptos"/>
              </a:rPr>
              <a:t>Success depends on true capability</a:t>
            </a:r>
          </a:p>
          <a:p>
            <a:pPr/>
            <a:r>
              <a:rPr sz="1800">
                <a:solidFill>
                  <a:srgbClr val="171A1C"/>
                </a:solidFill>
                <a:latin typeface="Aptos"/>
              </a:rPr>
              <a:t>And on whether that capability was exposed in a usable way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5596128"/>
            <a:ext cx="10104120" cy="658368"/>
          </a:xfrm>
          <a:prstGeom prst="roundRect">
            <a:avLst/>
          </a:prstGeom>
          <a:solidFill>
            <a:srgbClr val="F7F2E8"/>
          </a:solidFill>
          <a:ln>
            <a:solidFill>
              <a:srgbClr val="E5D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98448" y="577900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71A1C"/>
                </a:solidFill>
                <a:latin typeface="Aptos"/>
              </a:rPr>
              <a:t>Takeaway: the best skill is not only the most capable one, but the one whose affordances are most clearly exposed and most effectively usable.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Interviewing an Agent-Skill</dc:title>
  <dc:subject/>
  <dc:creator>OpenAI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