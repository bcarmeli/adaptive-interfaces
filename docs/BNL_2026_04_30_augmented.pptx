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316" r:id="rId2"/>
    <p:sldId id="542" r:id="rId3"/>
    <p:sldId id="559" r:id="rId4"/>
    <p:sldId id="555" r:id="rId5"/>
    <p:sldId id="560" r:id="rId6"/>
    <p:sldId id="341" r:id="rId7"/>
    <p:sldId id="263" r:id="rId8"/>
    <p:sldId id="556" r:id="rId9"/>
    <p:sldId id="561" r:id="rId10"/>
    <p:sldId id="538" r:id="rId11"/>
    <p:sldId id="541" r:id="rId12"/>
    <p:sldId id="554" r:id="rId13"/>
    <p:sldId id="557" r:id="rId14"/>
    <p:sldId id="323" r:id="rId15"/>
    <p:sldId id="562" r:id="rId16"/>
    <p:sldId id="321" r:id="rId17"/>
    <p:sldId id="337" r:id="rId18"/>
    <p:sldId id="338" r:id="rId19"/>
    <p:sldId id="330" r:id="rId20"/>
    <p:sldId id="334" r:id="rId21"/>
    <p:sldId id="339" r:id="rId22"/>
    <p:sldId id="346" r:id="rId23"/>
    <p:sldId id="344" r:id="rId24"/>
    <p:sldId id="345" r:id="rId25"/>
    <p:sldId id="551" r:id="rId26"/>
    <p:sldId id="340" r:id="rId27"/>
    <p:sldId id="342" r:id="rId28"/>
    <p:sldId id="343" r:id="rId29"/>
    <p:sldId id="547" r:id="rId30"/>
    <p:sldId id="552" r:id="rId31"/>
    <p:sldId id="553" r:id="rId32"/>
    <p:sldId id="548" r:id="rId33"/>
    <p:sldId id="549" r:id="rId34"/>
    <p:sldId id="545" r:id="rId35"/>
    <p:sldId id="543" r:id="rId36"/>
    <p:sldId id="519" r:id="rId37"/>
    <p:sldId id="347" r:id="rId38"/>
    <p:sldId id="563" r:id="rId39"/>
    <p:sldId id="329" r:id="rId40"/>
    <p:sldId id="336" r:id="rId41"/>
    <p:sldId id="319" r:id="rId42"/>
    <p:sldId id="281" r:id="rId43"/>
    <p:sldId id="497" r:id="rId44"/>
    <p:sldId id="317" r:id="rId45"/>
    <p:sldId id="318" r:id="rId46"/>
    <p:sldId id="529" r:id="rId47"/>
    <p:sldId id="530" r:id="rId48"/>
    <p:sldId id="520" r:id="rId49"/>
    <p:sldId id="521" r:id="rId50"/>
    <p:sldId id="522" r:id="rId51"/>
    <p:sldId id="523" r:id="rId52"/>
    <p:sldId id="546" r:id="rId53"/>
    <p:sldId id="558" r:id="rId5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2F9"/>
    <a:srgbClr val="BBD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88"/>
    <p:restoredTop sz="76871"/>
  </p:normalViewPr>
  <p:slideViewPr>
    <p:cSldViewPr snapToGrid="0">
      <p:cViewPr varScale="1">
        <p:scale>
          <a:sx n="92" d="100"/>
          <a:sy n="92" d="100"/>
        </p:scale>
        <p:origin x="1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3A54E2-7DC1-4DE2-9B24-FF74E2C7E62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CE2EA6-DB39-4CC6-BA8A-0D478ABCFCDE}">
      <dgm:prSet custT="1"/>
      <dgm:spPr/>
      <dgm:t>
        <a:bodyPr/>
        <a:lstStyle/>
        <a:p>
          <a:r>
            <a:rPr lang="en-US" sz="2800" dirty="0"/>
            <a:t>“It is highly unlikely that </a:t>
          </a:r>
          <a:r>
            <a:rPr lang="en-US" sz="2800" b="0" dirty="0">
              <a:solidFill>
                <a:schemeClr val="tx1"/>
              </a:solidFill>
            </a:rPr>
            <a:t>human language </a:t>
          </a:r>
          <a:r>
            <a:rPr lang="en-US" sz="2800" dirty="0"/>
            <a:t>provides the optimal instance of a universal computer.” </a:t>
          </a:r>
        </a:p>
      </dgm:t>
    </dgm:pt>
    <dgm:pt modelId="{25C80850-C4C3-430E-BC0E-9FB84D5F0489}" type="parTrans" cxnId="{B4CED63D-64CA-494F-B8F8-3ADCE0F9AA66}">
      <dgm:prSet/>
      <dgm:spPr/>
      <dgm:t>
        <a:bodyPr/>
        <a:lstStyle/>
        <a:p>
          <a:endParaRPr lang="en-US"/>
        </a:p>
      </dgm:t>
    </dgm:pt>
    <dgm:pt modelId="{67E8A118-BFB1-4971-AD17-7BD2565C63D3}" type="sibTrans" cxnId="{B4CED63D-64CA-494F-B8F8-3ADCE0F9AA66}">
      <dgm:prSet/>
      <dgm:spPr/>
      <dgm:t>
        <a:bodyPr/>
        <a:lstStyle/>
        <a:p>
          <a:endParaRPr lang="en-US"/>
        </a:p>
      </dgm:t>
    </dgm:pt>
    <dgm:pt modelId="{B38FCC18-7D77-43E4-8FAB-69CFA8D2C8D2}">
      <dgm:prSet/>
      <dgm:spPr/>
      <dgm:t>
        <a:bodyPr/>
        <a:lstStyle/>
        <a:p>
          <a:r>
            <a:rPr lang="en-US" dirty="0"/>
            <a:t>“More efficient </a:t>
          </a:r>
          <a:r>
            <a:rPr lang="en-US" b="1" dirty="0"/>
            <a:t>mechanisms of thought</a:t>
          </a:r>
          <a:r>
            <a:rPr lang="en-US" dirty="0"/>
            <a:t> surely exist, using </a:t>
          </a:r>
          <a:r>
            <a:rPr lang="en-US" b="1" dirty="0"/>
            <a:t>non-human languages </a:t>
          </a:r>
          <a:r>
            <a:rPr lang="en-US" dirty="0"/>
            <a:t>that may, for example, utilize symbolic, distributed, continuous, or differentiable computations.”</a:t>
          </a:r>
        </a:p>
      </dgm:t>
    </dgm:pt>
    <dgm:pt modelId="{85F1DC7B-8EB2-411D-84B1-8C8EBE47A574}" type="parTrans" cxnId="{8F509AA0-17CB-449B-8087-7B2E882B7CE2}">
      <dgm:prSet/>
      <dgm:spPr/>
      <dgm:t>
        <a:bodyPr/>
        <a:lstStyle/>
        <a:p>
          <a:endParaRPr lang="en-US"/>
        </a:p>
      </dgm:t>
    </dgm:pt>
    <dgm:pt modelId="{BE441B63-011D-4EFE-9708-EDCF8434D1AE}" type="sibTrans" cxnId="{8F509AA0-17CB-449B-8087-7B2E882B7CE2}">
      <dgm:prSet/>
      <dgm:spPr/>
      <dgm:t>
        <a:bodyPr/>
        <a:lstStyle/>
        <a:p>
          <a:endParaRPr lang="en-US"/>
        </a:p>
      </dgm:t>
    </dgm:pt>
    <dgm:pt modelId="{4C7B8F01-4107-6D44-8051-125822F4C837}" type="pres">
      <dgm:prSet presAssocID="{813A54E2-7DC1-4DE2-9B24-FF74E2C7E62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45BCF9D-F5F8-F947-8BA4-4F14506A8FF7}" type="pres">
      <dgm:prSet presAssocID="{43CE2EA6-DB39-4CC6-BA8A-0D478ABCFCDE}" presName="hierRoot1" presStyleCnt="0"/>
      <dgm:spPr/>
    </dgm:pt>
    <dgm:pt modelId="{B86F136F-EF32-DC49-9D71-067CE3B126BC}" type="pres">
      <dgm:prSet presAssocID="{43CE2EA6-DB39-4CC6-BA8A-0D478ABCFCDE}" presName="composite" presStyleCnt="0"/>
      <dgm:spPr/>
    </dgm:pt>
    <dgm:pt modelId="{2A3FBF4E-A3D0-7647-815B-9B95157C2538}" type="pres">
      <dgm:prSet presAssocID="{43CE2EA6-DB39-4CC6-BA8A-0D478ABCFCDE}" presName="background" presStyleLbl="node0" presStyleIdx="0" presStyleCnt="2"/>
      <dgm:spPr/>
    </dgm:pt>
    <dgm:pt modelId="{ADA4D7E0-DB04-2C4D-843D-6490010EE3C1}" type="pres">
      <dgm:prSet presAssocID="{43CE2EA6-DB39-4CC6-BA8A-0D478ABCFCDE}" presName="text" presStyleLbl="fgAcc0" presStyleIdx="0" presStyleCnt="2">
        <dgm:presLayoutVars>
          <dgm:chPref val="3"/>
        </dgm:presLayoutVars>
      </dgm:prSet>
      <dgm:spPr/>
    </dgm:pt>
    <dgm:pt modelId="{8A34F422-245C-E54C-A7ED-BA1831385F55}" type="pres">
      <dgm:prSet presAssocID="{43CE2EA6-DB39-4CC6-BA8A-0D478ABCFCDE}" presName="hierChild2" presStyleCnt="0"/>
      <dgm:spPr/>
    </dgm:pt>
    <dgm:pt modelId="{7DF37D9A-B9C2-5D40-AE8D-2B2215C669C4}" type="pres">
      <dgm:prSet presAssocID="{B38FCC18-7D77-43E4-8FAB-69CFA8D2C8D2}" presName="hierRoot1" presStyleCnt="0"/>
      <dgm:spPr/>
    </dgm:pt>
    <dgm:pt modelId="{2128BCAF-EBFB-0141-95AC-0FF54086A3D1}" type="pres">
      <dgm:prSet presAssocID="{B38FCC18-7D77-43E4-8FAB-69CFA8D2C8D2}" presName="composite" presStyleCnt="0"/>
      <dgm:spPr/>
    </dgm:pt>
    <dgm:pt modelId="{A03E21EB-6281-8C4C-8B08-14DC202DD4E5}" type="pres">
      <dgm:prSet presAssocID="{B38FCC18-7D77-43E4-8FAB-69CFA8D2C8D2}" presName="background" presStyleLbl="node0" presStyleIdx="1" presStyleCnt="2"/>
      <dgm:spPr/>
    </dgm:pt>
    <dgm:pt modelId="{EF030247-53BC-FB43-A2EB-B44372BB6B3F}" type="pres">
      <dgm:prSet presAssocID="{B38FCC18-7D77-43E4-8FAB-69CFA8D2C8D2}" presName="text" presStyleLbl="fgAcc0" presStyleIdx="1" presStyleCnt="2">
        <dgm:presLayoutVars>
          <dgm:chPref val="3"/>
        </dgm:presLayoutVars>
      </dgm:prSet>
      <dgm:spPr/>
    </dgm:pt>
    <dgm:pt modelId="{7AA54198-0550-1B49-A383-8E95AE07A54F}" type="pres">
      <dgm:prSet presAssocID="{B38FCC18-7D77-43E4-8FAB-69CFA8D2C8D2}" presName="hierChild2" presStyleCnt="0"/>
      <dgm:spPr/>
    </dgm:pt>
  </dgm:ptLst>
  <dgm:cxnLst>
    <dgm:cxn modelId="{37CAA000-11C1-354D-B569-921C60D5E7B1}" type="presOf" srcId="{43CE2EA6-DB39-4CC6-BA8A-0D478ABCFCDE}" destId="{ADA4D7E0-DB04-2C4D-843D-6490010EE3C1}" srcOrd="0" destOrd="0" presId="urn:microsoft.com/office/officeart/2005/8/layout/hierarchy1"/>
    <dgm:cxn modelId="{B4CED63D-64CA-494F-B8F8-3ADCE0F9AA66}" srcId="{813A54E2-7DC1-4DE2-9B24-FF74E2C7E62B}" destId="{43CE2EA6-DB39-4CC6-BA8A-0D478ABCFCDE}" srcOrd="0" destOrd="0" parTransId="{25C80850-C4C3-430E-BC0E-9FB84D5F0489}" sibTransId="{67E8A118-BFB1-4971-AD17-7BD2565C63D3}"/>
    <dgm:cxn modelId="{807EEC5C-B866-004B-B878-14B8A6FC1392}" type="presOf" srcId="{813A54E2-7DC1-4DE2-9B24-FF74E2C7E62B}" destId="{4C7B8F01-4107-6D44-8051-125822F4C837}" srcOrd="0" destOrd="0" presId="urn:microsoft.com/office/officeart/2005/8/layout/hierarchy1"/>
    <dgm:cxn modelId="{8F509AA0-17CB-449B-8087-7B2E882B7CE2}" srcId="{813A54E2-7DC1-4DE2-9B24-FF74E2C7E62B}" destId="{B38FCC18-7D77-43E4-8FAB-69CFA8D2C8D2}" srcOrd="1" destOrd="0" parTransId="{85F1DC7B-8EB2-411D-84B1-8C8EBE47A574}" sibTransId="{BE441B63-011D-4EFE-9708-EDCF8434D1AE}"/>
    <dgm:cxn modelId="{E76EFCA8-7239-DF44-94D1-134469106E59}" type="presOf" srcId="{B38FCC18-7D77-43E4-8FAB-69CFA8D2C8D2}" destId="{EF030247-53BC-FB43-A2EB-B44372BB6B3F}" srcOrd="0" destOrd="0" presId="urn:microsoft.com/office/officeart/2005/8/layout/hierarchy1"/>
    <dgm:cxn modelId="{2AC0DE0A-9C22-534A-9A5A-FFC0EB371994}" type="presParOf" srcId="{4C7B8F01-4107-6D44-8051-125822F4C837}" destId="{445BCF9D-F5F8-F947-8BA4-4F14506A8FF7}" srcOrd="0" destOrd="0" presId="urn:microsoft.com/office/officeart/2005/8/layout/hierarchy1"/>
    <dgm:cxn modelId="{437824E1-DFC8-7841-927F-489F4C8AA468}" type="presParOf" srcId="{445BCF9D-F5F8-F947-8BA4-4F14506A8FF7}" destId="{B86F136F-EF32-DC49-9D71-067CE3B126BC}" srcOrd="0" destOrd="0" presId="urn:microsoft.com/office/officeart/2005/8/layout/hierarchy1"/>
    <dgm:cxn modelId="{0A36AF55-33C0-544F-86E6-391A3BBD1FE0}" type="presParOf" srcId="{B86F136F-EF32-DC49-9D71-067CE3B126BC}" destId="{2A3FBF4E-A3D0-7647-815B-9B95157C2538}" srcOrd="0" destOrd="0" presId="urn:microsoft.com/office/officeart/2005/8/layout/hierarchy1"/>
    <dgm:cxn modelId="{10A58643-CC95-1946-BFFE-088FAFEC137D}" type="presParOf" srcId="{B86F136F-EF32-DC49-9D71-067CE3B126BC}" destId="{ADA4D7E0-DB04-2C4D-843D-6490010EE3C1}" srcOrd="1" destOrd="0" presId="urn:microsoft.com/office/officeart/2005/8/layout/hierarchy1"/>
    <dgm:cxn modelId="{C6881644-5646-D74F-82EC-A4BC4343F66C}" type="presParOf" srcId="{445BCF9D-F5F8-F947-8BA4-4F14506A8FF7}" destId="{8A34F422-245C-E54C-A7ED-BA1831385F55}" srcOrd="1" destOrd="0" presId="urn:microsoft.com/office/officeart/2005/8/layout/hierarchy1"/>
    <dgm:cxn modelId="{3B5663AA-2A1E-7E47-ABCD-E4AB8B5D5D68}" type="presParOf" srcId="{4C7B8F01-4107-6D44-8051-125822F4C837}" destId="{7DF37D9A-B9C2-5D40-AE8D-2B2215C669C4}" srcOrd="1" destOrd="0" presId="urn:microsoft.com/office/officeart/2005/8/layout/hierarchy1"/>
    <dgm:cxn modelId="{508DE08E-F609-0043-BDF6-365EE2AEBB41}" type="presParOf" srcId="{7DF37D9A-B9C2-5D40-AE8D-2B2215C669C4}" destId="{2128BCAF-EBFB-0141-95AC-0FF54086A3D1}" srcOrd="0" destOrd="0" presId="urn:microsoft.com/office/officeart/2005/8/layout/hierarchy1"/>
    <dgm:cxn modelId="{40B76731-616D-E340-AD73-B379EC421548}" type="presParOf" srcId="{2128BCAF-EBFB-0141-95AC-0FF54086A3D1}" destId="{A03E21EB-6281-8C4C-8B08-14DC202DD4E5}" srcOrd="0" destOrd="0" presId="urn:microsoft.com/office/officeart/2005/8/layout/hierarchy1"/>
    <dgm:cxn modelId="{9558D946-7B00-CA4F-849D-B11AD2728DB0}" type="presParOf" srcId="{2128BCAF-EBFB-0141-95AC-0FF54086A3D1}" destId="{EF030247-53BC-FB43-A2EB-B44372BB6B3F}" srcOrd="1" destOrd="0" presId="urn:microsoft.com/office/officeart/2005/8/layout/hierarchy1"/>
    <dgm:cxn modelId="{46A392DF-57F1-144B-9308-36F3BFB36B86}" type="presParOf" srcId="{7DF37D9A-B9C2-5D40-AE8D-2B2215C669C4}" destId="{7AA54198-0550-1B49-A383-8E95AE07A5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FBF4E-A3D0-7647-815B-9B95157C2538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4D7E0-DB04-2C4D-843D-6490010EE3C1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“It is highly unlikely that </a:t>
          </a:r>
          <a:r>
            <a:rPr lang="en-US" sz="2800" b="0" kern="1200" dirty="0">
              <a:solidFill>
                <a:schemeClr val="tx1"/>
              </a:solidFill>
            </a:rPr>
            <a:t>human language </a:t>
          </a:r>
          <a:r>
            <a:rPr lang="en-US" sz="2800" kern="1200" dirty="0"/>
            <a:t>provides the optimal instance of a universal computer.” </a:t>
          </a:r>
        </a:p>
      </dsp:txBody>
      <dsp:txXfrm>
        <a:off x="696297" y="538547"/>
        <a:ext cx="4171627" cy="2590157"/>
      </dsp:txXfrm>
    </dsp:sp>
    <dsp:sp modelId="{A03E21EB-6281-8C4C-8B08-14DC202DD4E5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030247-53BC-FB43-A2EB-B44372BB6B3F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“More efficient </a:t>
          </a:r>
          <a:r>
            <a:rPr lang="en-US" sz="2400" b="1" kern="1200" dirty="0"/>
            <a:t>mechanisms of thought</a:t>
          </a:r>
          <a:r>
            <a:rPr lang="en-US" sz="2400" kern="1200" dirty="0"/>
            <a:t> surely exist, using </a:t>
          </a:r>
          <a:r>
            <a:rPr lang="en-US" sz="2400" b="1" kern="1200" dirty="0"/>
            <a:t>non-human languages </a:t>
          </a:r>
          <a:r>
            <a:rPr lang="en-US" sz="2400" kern="1200" dirty="0"/>
            <a:t>that may, for example, utilize symbolic, distributed, continuous, or differentiable computations.”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7E5E4A-3EEF-7B4E-9955-0524D7B3569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AB6B7-6F97-D741-B9B1-1CF376A6B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1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8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38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99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71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“These properties are not bugs — they are incentives that naturally arise in cooperative systems.”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76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85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863D8-D77F-F33C-958C-753F0C532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2605B-F974-9BA0-D204-6A5BE9006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14BD7-2AC6-7974-DA20-EC5A4A4BF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5DCF4-B7E2-EBE4-B857-ED30E905B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6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8FF6-4148-04EF-9E03-419505B7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EB753-08FC-1488-E54F-4AE503CF7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B3810-8252-F225-BD95-F9005314B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BD118-A971-63DA-CB0F-E85147649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49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6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67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We implement the algorithm with </a:t>
            </a:r>
            <a:r>
              <a:rPr lang="en-US" noProof="0" dirty="0" err="1"/>
              <a:t>PyTorch</a:t>
            </a:r>
            <a:r>
              <a:rPr lang="en-US" noProof="0" dirty="0"/>
              <a:t>. </a:t>
            </a:r>
          </a:p>
          <a:p>
            <a:r>
              <a:rPr lang="en-US" noProof="0" dirty="0"/>
              <a:t>We use quantized 8 bit integers as the data type of the message elements as we found this to be fine-grained enough</a:t>
            </a:r>
          </a:p>
          <a:p>
            <a:endParaRPr lang="en-US" noProof="0" dirty="0"/>
          </a:p>
          <a:p>
            <a:r>
              <a:rPr lang="en-US" noProof="0" dirty="0"/>
              <a:t>Notably using the </a:t>
            </a:r>
            <a:r>
              <a:rPr lang="en-US" noProof="0" dirty="0" err="1"/>
              <a:t>quantize_per_tensor</a:t>
            </a:r>
            <a:r>
              <a:rPr lang="en-US" noProof="0" dirty="0"/>
              <a:t> and dequantized </a:t>
            </a:r>
            <a:r>
              <a:rPr lang="en-US" noProof="0" dirty="0" err="1"/>
              <a:t>pytorch</a:t>
            </a:r>
            <a:r>
              <a:rPr lang="en-US" noProof="0" dirty="0"/>
              <a:t> methods allow gradients to flow through non differentiable rounding operation</a:t>
            </a:r>
          </a:p>
          <a:p>
            <a:r>
              <a:rPr lang="en-US" noProof="0" dirty="0"/>
              <a:t>Implementing the straight through estimator during backward step still needs to be done manually.</a:t>
            </a:r>
          </a:p>
          <a:p>
            <a:r>
              <a:rPr lang="en-US" noProof="0" dirty="0"/>
              <a:t>We did so by overriding the backward methods and returning the input gradients.</a:t>
            </a:r>
          </a:p>
          <a:p>
            <a:endParaRPr lang="en-US" noProof="0" dirty="0"/>
          </a:p>
          <a:p>
            <a:r>
              <a:rPr lang="en-US" noProof="0" dirty="0"/>
              <a:t>----------------------------------------------------------------------</a:t>
            </a:r>
          </a:p>
          <a:p>
            <a:r>
              <a:rPr lang="en-US" noProof="0" dirty="0"/>
              <a:t># As a simple example think of a binary alphabet. </a:t>
            </a:r>
          </a:p>
          <a:p>
            <a:r>
              <a:rPr lang="en-US" noProof="0" dirty="0"/>
              <a:t># In that case, message is untouched after normalization, and then all dimensions with values grater than 0.5 are rounded to one while all other values are rounded to zero.</a:t>
            </a:r>
          </a:p>
          <a:p>
            <a:r>
              <a:rPr lang="en-US" noProof="0" dirty="0"/>
              <a:t># Scaling back the message will again result in no changes, thus the channel transmits a binary message</a:t>
            </a:r>
          </a:p>
          <a:p>
            <a:endParaRPr lang="en-US" dirty="0"/>
          </a:p>
          <a:p>
            <a:r>
              <a:rPr lang="en-US" dirty="0"/>
              <a:t> </a:t>
            </a:r>
            <a:endParaRPr lang="en-IL" dirty="0"/>
          </a:p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E2BD3-CA64-FA4F-B5FA-B023568DB0E2}" type="slidenum">
              <a:rPr lang="en-IL" smtClean="0"/>
              <a:t>43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83792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AB4BE-CE1B-F92A-B943-2228B356D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EB4CC-FBCF-7CDF-7E82-50C574F86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16F51-12CF-73E1-1D1F-4F0617D02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A2F76-5526-2BC0-99BB-092E974C3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49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847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B6B7-6F97-D741-B9B1-1CF376A6B5C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58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39C67-DC94-A42C-E739-FDF98348E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87CD8-6BCB-0E8A-1EBF-082CBEFD6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2D23E-405E-4B1B-C4A8-610AE691B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30/04/2026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C9A70-7742-CD3D-E5FA-5913C786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E4BB1-8533-8716-6A21-E6F25D11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195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AF41-1EE5-3429-DDD3-B8638120E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CD866-E958-9C34-808C-80BC45B4D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145C9-B45B-4659-56F2-2D6AE228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30/04/2026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0CA7E-31A7-9635-B6D6-2C0FA94E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52686-B113-095A-C4ED-7ECB2E346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036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7662C-52BB-032C-4C0A-5CEE676A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DA0D2-0636-C397-23B4-61C00D496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5F4D1-4002-8E2D-156F-3A240A8B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30/04/2026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5AC79-D1D6-4BD6-3E74-2D910F7CD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19AA1-DAE1-2FFE-FC28-F9CBA029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5820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0926-F20D-978E-56D5-98A839A8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B3777-BFA7-FFCD-3D92-B13DDB18E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71D9A-1301-587B-B231-6E7248412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16713-1A2C-D484-EA6D-9FFAF2841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30/04/2026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1C4F5-E86B-F3F4-8AE6-8CE9F565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3E5E7-CFBF-E24F-0626-1B9CC18E6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8380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1AFAD-51A2-B86D-26D3-1E219BEA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FF8E1-B483-2A2D-405D-6763D1BDB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DC0E8-4B39-CF8B-A27D-0A8CEA7BF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2426E-39FA-0FCE-EEC4-638E8F6B1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AA75C-52D4-4C90-262A-23EDA754F0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37496A-961E-0DDD-4494-116A5FE1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30/04/2026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3BB8E7-C2AB-BB75-6143-0636B9EE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8997FC-A492-67F5-EF39-F3DC1BF6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978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CA01-349A-A94C-170F-88944467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6062D-B00F-B6A3-AD15-7DEBE64E1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30/04/2026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6AAC2-5E11-2BF5-3ECD-4AD9C80A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51FB8-7DCC-1578-ABED-DC881C0C1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66596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E30898-F5FB-4FE2-5CD2-5E8632D28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30/04/2026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E75C9C-B8F5-0975-D4EC-D9635EB06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FBDB7-5805-1179-CAB6-6762E5B2C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95576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1957-7878-64DD-9FCF-1F7A51BBD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F4790-890C-8B34-D3AC-5DB0F9983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B8C88-6227-7220-447A-EAE0B155F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9FAF7-3DCD-54E8-E70D-38A57059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30/04/2026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B12E4-4003-EFB6-C6CD-C184F16DF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577C4-CF0B-8286-4DC5-78E20E33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6452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CA28-174C-4A00-754A-518FFA3B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B90E67-04B0-6970-BE73-979C783A1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86D65-BB96-6008-F296-ED9FA31A8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CACE8-A11F-F865-EBA1-9315D68C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30/04/2026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9826E-5916-4C9A-DA9E-2623622B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7BD41-5990-E8BB-DF5C-BE39092C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62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B697-79E7-2AC4-3C90-680F57A03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C3E36-5D0E-C968-E276-561B2A0FD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3B06F-B383-1CFF-ACFA-D8561E9BE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30/04/2026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B7063-4EA7-70AB-7D69-FEEE01EF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2EC0-BB92-D56A-56BD-9E3165E3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171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928940-E39E-BF1D-AEFA-8E0007E70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398B9-ECBB-4D71-2A74-C2F841EB3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8A371-7909-B7CD-3EC3-B0E0BB7B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E2C-89B0-B74C-91AC-72B338BD7724}" type="datetimeFigureOut">
              <a:rPr lang="en-IL" smtClean="0"/>
              <a:t>30/04/2026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EA3C5-390D-C2F3-F056-099034F8C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B2ED6-88CA-8381-6717-335FC9E3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728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6A22A2-E7A3-51B5-0FEF-FA1AB7187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2910E-FBF2-87F1-289D-7484838B2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06F31-C7D7-3444-D6B6-CB5840C52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82E2C-89B0-B74C-91AC-72B338BD7724}" type="datetimeFigureOut">
              <a:rPr lang="en-IL" smtClean="0"/>
              <a:t>30/04/2026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94AA3-C446-AE1A-5673-913DB18B4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E7F04-43E0-A02D-772F-8034AFB4E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C7A5B-60B4-944C-919D-C2A6BABF56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682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8.png"/><Relationship Id="rId7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youtube.com/watch?v=EtNagNezo8w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gerganov/ggwave?tab=readme-ov-file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DF5D-447C-6CEB-8DB2-F892BD1A9A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Beyond Natural Language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C1F0111-52A2-925D-77A8-23F979CB2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78237"/>
            <a:ext cx="9144000" cy="2387599"/>
          </a:xfrm>
        </p:spPr>
        <p:txBody>
          <a:bodyPr>
            <a:normAutofit lnSpcReduction="10000"/>
          </a:bodyPr>
          <a:lstStyle/>
          <a:p>
            <a:r>
              <a:rPr lang="en-US" sz="4200" dirty="0">
                <a:solidFill>
                  <a:srgbClr val="7030A0"/>
                </a:solidFill>
              </a:rPr>
              <a:t>The limits of my language mean the limits of my world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Ludwig Wittgenstein</a:t>
            </a:r>
            <a:br>
              <a:rPr lang="en-US" sz="2800" dirty="0"/>
            </a:br>
            <a:r>
              <a:rPr lang="en-US" sz="2800" dirty="0"/>
              <a:t>(1921)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6501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8D2B-1F1A-0D19-CC1B-E7753929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D2D13-48C5-575A-4A51-BAC3FF436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Going beyond ‘natural language’</a:t>
            </a:r>
          </a:p>
          <a:p>
            <a:r>
              <a:rPr lang="en-US" sz="3200" dirty="0"/>
              <a:t>Investigating the development of task-oriented communication in vision-language models</a:t>
            </a:r>
          </a:p>
          <a:p>
            <a:r>
              <a:rPr lang="en-US" sz="3200" dirty="0"/>
              <a:t>Next steps: tasks, data, training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83852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47472"/>
          </a:xfrm>
          <a:prstGeom prst="rect">
            <a:avLst/>
          </a:prstGeom>
          <a:solidFill>
            <a:srgbClr val="1E6789"/>
          </a:solidFill>
          <a:ln>
            <a:solidFill>
              <a:srgbClr val="1E6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71A1C"/>
                </a:solidFill>
                <a:latin typeface="Aptos Display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8755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>
                <a:solidFill>
                  <a:srgbClr val="171A1C"/>
                </a:solidFill>
                <a:latin typeface="Aptos"/>
              </a:rPr>
              <a:t>Why go beyond natural language?</a:t>
            </a:r>
          </a:p>
          <a:p>
            <a:r>
              <a:rPr sz="2200">
                <a:solidFill>
                  <a:srgbClr val="171A1C"/>
                </a:solidFill>
                <a:latin typeface="Aptos"/>
              </a:rPr>
              <a:t>Language as an interface to latent space</a:t>
            </a:r>
          </a:p>
          <a:p>
            <a:r>
              <a:rPr sz="2200">
                <a:solidFill>
                  <a:srgbClr val="171A1C"/>
                </a:solidFill>
                <a:latin typeface="Aptos"/>
              </a:rPr>
              <a:t>How interaction, affordance, and task shape communication</a:t>
            </a:r>
          </a:p>
          <a:p>
            <a:r>
              <a:rPr sz="2200">
                <a:solidFill>
                  <a:srgbClr val="171A1C"/>
                </a:solidFill>
                <a:latin typeface="Aptos"/>
              </a:rPr>
              <a:t>Evidence from emergent communication in VLMs</a:t>
            </a:r>
          </a:p>
          <a:p>
            <a:r>
              <a:rPr sz="2200">
                <a:solidFill>
                  <a:srgbClr val="171A1C"/>
                </a:solidFill>
                <a:latin typeface="Aptos"/>
              </a:rPr>
              <a:t>Open questions and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CDF1-5F81-AAC9-C2B0-F9893E28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0F7D3-2E19-A42F-73E2-3E59379FC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08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47472"/>
          </a:xfrm>
          <a:prstGeom prst="rect">
            <a:avLst/>
          </a:prstGeom>
          <a:solidFill>
            <a:srgbClr val="1E6789"/>
          </a:solidFill>
          <a:ln>
            <a:solidFill>
              <a:srgbClr val="1E6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71A1C"/>
                </a:solidFill>
                <a:latin typeface="Aptos Display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8755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>
                <a:solidFill>
                  <a:srgbClr val="171A1C"/>
                </a:solidFill>
                <a:latin typeface="Aptos"/>
              </a:rPr>
              <a:t>Natural language co-evolved with human cognition and human needs</a:t>
            </a:r>
          </a:p>
          <a:p>
            <a:r>
              <a:rPr sz="2400">
                <a:solidFill>
                  <a:srgbClr val="171A1C"/>
                </a:solidFill>
                <a:latin typeface="Aptos"/>
              </a:rPr>
              <a:t>Artificial agents may face different tasks, modalities, and memory regimes</a:t>
            </a:r>
          </a:p>
          <a:p>
            <a:r>
              <a:rPr sz="2400">
                <a:solidFill>
                  <a:srgbClr val="171A1C"/>
                </a:solidFill>
                <a:latin typeface="Aptos"/>
              </a:rPr>
              <a:t>So their most useful communication interface may differ from 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63676B"/>
                </a:solidFill>
                <a:latin typeface="Aptos"/>
              </a:rPr>
              <a:t>Question: when do new tasks and affordances create pressure for new interfaces?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9B3929-1399-7197-23AE-E35C9D9C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3700" dirty="0"/>
              <a:t>David Silver &amp; Richard Sutton</a:t>
            </a:r>
            <a:br>
              <a:rPr lang="en-US" sz="3700" dirty="0"/>
            </a:br>
            <a:r>
              <a:rPr lang="en-US" sz="3100" dirty="0"/>
              <a:t>“</a:t>
            </a:r>
            <a:r>
              <a:rPr lang="en-US" sz="3100" i="1" dirty="0"/>
              <a:t>Welcome to the Era of Experience</a:t>
            </a:r>
            <a:r>
              <a:rPr lang="en-US" sz="3100" dirty="0"/>
              <a:t>” — Google AI, 2025</a:t>
            </a:r>
            <a:endParaRPr lang="en-US" sz="37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BE3228-E296-9C48-B60D-724D494CE1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51376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6735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59D8-64FD-1DFF-ACCB-AFB5CCA7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sz="3200" dirty="0"/>
              <a:t>he </a:t>
            </a:r>
            <a:r>
              <a:rPr lang="en-US" sz="3200" b="1" dirty="0"/>
              <a:t>Sapir-Whorf </a:t>
            </a:r>
            <a:r>
              <a:rPr lang="en-US" sz="3200" dirty="0"/>
              <a:t>hypothesis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64886-5AFE-778A-AC16-8D15FA462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3" y="2147731"/>
            <a:ext cx="10515600" cy="273384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Linguistic Relativity</a:t>
            </a:r>
            <a:r>
              <a:rPr lang="en-US" sz="2400" dirty="0">
                <a:solidFill>
                  <a:srgbClr val="7030A0"/>
                </a:solidFill>
              </a:rPr>
              <a:t>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According to the </a:t>
            </a:r>
            <a:r>
              <a:rPr lang="en-US" sz="2400" b="1" dirty="0">
                <a:solidFill>
                  <a:srgbClr val="7030A0"/>
                </a:solidFill>
              </a:rPr>
              <a:t>Sapir-Whorf hypothesis</a:t>
            </a:r>
            <a:r>
              <a:rPr lang="en-US" sz="2400" dirty="0">
                <a:solidFill>
                  <a:srgbClr val="7030A0"/>
                </a:solidFill>
              </a:rPr>
              <a:t>, </a:t>
            </a:r>
            <a:br>
              <a:rPr lang="en-US" sz="2400" dirty="0">
                <a:solidFill>
                  <a:srgbClr val="7030A0"/>
                </a:solidFill>
              </a:rPr>
            </a:b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structure of a language influences the way its speakers </a:t>
            </a:r>
            <a:b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perceive and think about the world 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If our language </a:t>
            </a:r>
            <a:r>
              <a:rPr lang="en-US" sz="2400" b="1" dirty="0">
                <a:solidFill>
                  <a:srgbClr val="7030A0"/>
                </a:solidFill>
              </a:rPr>
              <a:t>lacks the ability to express certain concepts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easily, it might limit our ability to think about them deeply or creatively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more expressive or structured language could open new ways of thinking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091F8-87E2-1ED0-F62A-50C40C9421FC}"/>
              </a:ext>
            </a:extLst>
          </p:cNvPr>
          <p:cNvSpPr txBox="1"/>
          <p:nvPr/>
        </p:nvSpPr>
        <p:spPr>
          <a:xfrm>
            <a:off x="988512" y="5076134"/>
            <a:ext cx="100496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Sapir, Edward.</a:t>
            </a:r>
            <a:r>
              <a:rPr lang="en-US" dirty="0"/>
              <a:t> (1929). </a:t>
            </a:r>
            <a:r>
              <a:rPr lang="en-US" i="1" dirty="0"/>
              <a:t>The status of linguistics as a science.</a:t>
            </a:r>
            <a:r>
              <a:rPr lang="en-US" dirty="0"/>
              <a:t> </a:t>
            </a:r>
            <a:r>
              <a:rPr lang="en-US" i="1" dirty="0"/>
              <a:t>Language, 5</a:t>
            </a:r>
            <a:r>
              <a:rPr lang="en-US" dirty="0"/>
              <a:t>(4), 207-214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Whorf, Benjamin Lee.</a:t>
            </a:r>
            <a:r>
              <a:rPr lang="en-US" dirty="0"/>
              <a:t> (1956). </a:t>
            </a:r>
            <a:r>
              <a:rPr lang="en-US" i="1" dirty="0"/>
              <a:t>Language, Thought, and Reality: Selected Writings of Benjamin Lee Whorf.</a:t>
            </a:r>
            <a:r>
              <a:rPr lang="en-US" dirty="0"/>
              <a:t> Edited by John B. Carroll. MIT Press. (MIT Press link)</a:t>
            </a:r>
          </a:p>
        </p:txBody>
      </p:sp>
      <p:pic>
        <p:nvPicPr>
          <p:cNvPr id="4098" name="Picture 2" descr="Good Fiction, Questionable Science: The Sapir-Whorf Hypothesis - Reactor">
            <a:extLst>
              <a:ext uri="{FF2B5EF4-FFF2-40B4-BE49-F238E27FC236}">
                <a16:creationId xmlns:a16="http://schemas.microsoft.com/office/drawing/2014/main" id="{7BEBB7E3-8E1E-CFFE-41F8-9EE89AD92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224" y="81775"/>
            <a:ext cx="2893194" cy="183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DD0ABB-075C-865E-25F7-C725E3727CAC}"/>
              </a:ext>
            </a:extLst>
          </p:cNvPr>
          <p:cNvSpPr txBox="1"/>
          <p:nvPr/>
        </p:nvSpPr>
        <p:spPr>
          <a:xfrm>
            <a:off x="9218224" y="1949210"/>
            <a:ext cx="156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Edward Sapir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10A92-ED45-D38E-5B19-821E860AD57B}"/>
              </a:ext>
            </a:extLst>
          </p:cNvPr>
          <p:cNvSpPr txBox="1"/>
          <p:nvPr/>
        </p:nvSpPr>
        <p:spPr>
          <a:xfrm>
            <a:off x="10301353" y="1875209"/>
            <a:ext cx="2275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Benjamin</a:t>
            </a:r>
            <a:br>
              <a:rPr lang="en-US" b="1" dirty="0"/>
            </a:br>
            <a:r>
              <a:rPr lang="en-US" b="1" dirty="0"/>
              <a:t>Lee Whorf </a:t>
            </a:r>
          </a:p>
        </p:txBody>
      </p:sp>
    </p:spTree>
    <p:extLst>
      <p:ext uri="{BB962C8B-B14F-4D97-AF65-F5344CB8AC3E}">
        <p14:creationId xmlns:p14="http://schemas.microsoft.com/office/powerpoint/2010/main" val="15315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EF1F3-1AD3-A0EB-6E49-DFC51418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EBC5-22F2-859C-5585-2A22F51D7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Hypothetical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E3F7A-A2A2-2ED1-F4E0-F4E28B342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81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47472"/>
          </a:xfrm>
          <a:prstGeom prst="rect">
            <a:avLst/>
          </a:prstGeom>
          <a:solidFill>
            <a:srgbClr val="1E6789"/>
          </a:solidFill>
          <a:ln>
            <a:solidFill>
              <a:srgbClr val="1E6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71A1C"/>
                </a:solidFill>
                <a:latin typeface="Aptos Display"/>
              </a:rPr>
              <a:t>Conceptual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63676B"/>
                </a:solidFill>
                <a:latin typeface="Aptos"/>
              </a:rPr>
              <a:t>A minimal view of communication between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0584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>
                <a:solidFill>
                  <a:srgbClr val="171A1C"/>
                </a:solidFill>
                <a:latin typeface="Aptos"/>
              </a:rPr>
              <a:t>Each agent has a private latent space</a:t>
            </a:r>
          </a:p>
          <a:p>
            <a:r>
              <a:rPr sz="2100">
                <a:solidFill>
                  <a:srgbClr val="171A1C"/>
                </a:solidFill>
                <a:latin typeface="Aptos"/>
              </a:rPr>
              <a:t>Communication exposes only a partial, public interface</a:t>
            </a:r>
          </a:p>
          <a:p>
            <a:r>
              <a:rPr sz="2100">
                <a:solidFill>
                  <a:srgbClr val="171A1C"/>
                </a:solidFill>
                <a:latin typeface="Aptos"/>
              </a:rPr>
              <a:t>Interaction relies on references: words, symbols, examples, APIs</a:t>
            </a:r>
          </a:p>
          <a:p>
            <a:r>
              <a:rPr sz="2100">
                <a:solidFill>
                  <a:srgbClr val="171A1C"/>
                </a:solidFill>
                <a:latin typeface="Aptos"/>
              </a:rPr>
              <a:t>A partner is perceived through affordances, not through direct access</a:t>
            </a:r>
          </a:p>
          <a:p>
            <a:r>
              <a:rPr sz="2100">
                <a:solidFill>
                  <a:srgbClr val="171A1C"/>
                </a:solidFill>
                <a:latin typeface="Aptos"/>
              </a:rPr>
              <a:t>Language should be studied as an interface, not as thought itself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85A38"/>
          </a:solidFill>
          <a:ln>
            <a:solidFill>
              <a:srgbClr val="C85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68096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dirty="0">
                <a:solidFill>
                  <a:srgbClr val="181A1C"/>
                </a:solidFill>
                <a:latin typeface="Aptos Display"/>
              </a:rPr>
              <a:t>Language as an Interface to a Latent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287"/>
            <a:ext cx="11126585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Communication is not the latent space itself. It is the public, addressable surface through which one agent gains partial access to another agent's hidden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867894"/>
            <a:ext cx="2971800" cy="2194560"/>
          </a:xfrm>
          <a:prstGeom prst="roundRect">
            <a:avLst/>
          </a:prstGeom>
          <a:solidFill>
            <a:srgbClr val="EBF2F9"/>
          </a:solidFill>
          <a:ln>
            <a:solidFill>
              <a:srgbClr val="FFF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09649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181A1C"/>
                </a:solidFill>
                <a:latin typeface="Aptos Display"/>
              </a:rPr>
              <a:t>Latent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22969"/>
            <a:ext cx="237744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dirty="0">
                <a:solidFill>
                  <a:srgbClr val="181A1C"/>
                </a:solidFill>
                <a:latin typeface="Aptos"/>
              </a:rPr>
              <a:t>Private reasoning</a:t>
            </a:r>
            <a:br>
              <a:rPr sz="2000" dirty="0"/>
            </a:br>
            <a:r>
              <a:rPr sz="2000" dirty="0"/>
              <a:t>Hidden heuristics</a:t>
            </a:r>
            <a:br>
              <a:rPr sz="2000" dirty="0"/>
            </a:br>
            <a:r>
              <a:rPr sz="2000" dirty="0"/>
              <a:t>Internal capabilities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867894"/>
            <a:ext cx="2971800" cy="2194560"/>
          </a:xfrm>
          <a:prstGeom prst="roundRect">
            <a:avLst/>
          </a:prstGeom>
          <a:solidFill>
            <a:srgbClr val="F4D8CD"/>
          </a:solidFill>
          <a:ln>
            <a:solidFill>
              <a:srgbClr val="F4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5595" y="309649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181A1C"/>
                </a:solidFill>
                <a:latin typeface="Aptos Display"/>
              </a:rPr>
              <a:t>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5595" y="3636824"/>
            <a:ext cx="237744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dirty="0">
                <a:solidFill>
                  <a:srgbClr val="181A1C"/>
                </a:solidFill>
                <a:latin typeface="Aptos"/>
              </a:rPr>
              <a:t>Words, </a:t>
            </a:r>
            <a:r>
              <a:rPr lang="en-US" sz="2000" b="0" dirty="0">
                <a:solidFill>
                  <a:srgbClr val="181A1C"/>
                </a:solidFill>
                <a:latin typeface="Aptos"/>
              </a:rPr>
              <a:t>S</a:t>
            </a:r>
            <a:r>
              <a:rPr sz="2000" b="0" dirty="0">
                <a:solidFill>
                  <a:srgbClr val="181A1C"/>
                </a:solidFill>
                <a:latin typeface="Aptos"/>
              </a:rPr>
              <a:t>ymbols,</a:t>
            </a:r>
            <a:r>
              <a:rPr lang="en-US" sz="2000" b="0" dirty="0">
                <a:solidFill>
                  <a:srgbClr val="181A1C"/>
                </a:solidFill>
                <a:latin typeface="Aptos"/>
              </a:rPr>
              <a:t> </a:t>
            </a:r>
            <a:r>
              <a:rPr sz="2000" dirty="0"/>
              <a:t>APIs,</a:t>
            </a:r>
            <a:br>
              <a:rPr sz="2000" dirty="0"/>
            </a:br>
            <a:r>
              <a:rPr lang="en-US" sz="2000" b="1" dirty="0"/>
              <a:t>Usable</a:t>
            </a:r>
            <a:r>
              <a:rPr sz="2000" b="1" dirty="0"/>
              <a:t> handles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867894"/>
            <a:ext cx="2953512" cy="2194560"/>
          </a:xfrm>
          <a:prstGeom prst="roundRect">
            <a:avLst/>
          </a:prstGeom>
          <a:solidFill>
            <a:srgbClr val="D8E6D8"/>
          </a:solidFill>
          <a:ln>
            <a:solidFill>
              <a:srgbClr val="D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309649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1A1C"/>
                </a:solidFill>
                <a:latin typeface="Aptos Display"/>
              </a:rPr>
              <a:t>Affordance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39" y="3622969"/>
            <a:ext cx="2499361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dirty="0">
                <a:solidFill>
                  <a:srgbClr val="181A1C"/>
                </a:solidFill>
                <a:latin typeface="Aptos"/>
              </a:rPr>
              <a:t>What </a:t>
            </a:r>
            <a:r>
              <a:rPr lang="en-US" sz="2000" b="0" dirty="0">
                <a:solidFill>
                  <a:srgbClr val="181A1C"/>
                </a:solidFill>
                <a:latin typeface="Aptos"/>
              </a:rPr>
              <a:t>one</a:t>
            </a:r>
            <a:r>
              <a:rPr sz="2000" b="0" dirty="0">
                <a:solidFill>
                  <a:srgbClr val="181A1C"/>
                </a:solidFill>
                <a:latin typeface="Aptos"/>
              </a:rPr>
              <a:t> </a:t>
            </a:r>
            <a:r>
              <a:rPr lang="en-US" sz="2000" dirty="0">
                <a:solidFill>
                  <a:srgbClr val="181A1C"/>
                </a:solidFill>
                <a:latin typeface="Aptos"/>
              </a:rPr>
              <a:t>a</a:t>
            </a:r>
            <a:r>
              <a:rPr lang="en-US" sz="2000" b="0" dirty="0">
                <a:solidFill>
                  <a:srgbClr val="181A1C"/>
                </a:solidFill>
                <a:latin typeface="Aptos"/>
              </a:rPr>
              <a:t>gent </a:t>
            </a:r>
            <a:r>
              <a:rPr sz="2000" dirty="0"/>
              <a:t>makes possible for</a:t>
            </a:r>
            <a:r>
              <a:rPr lang="en-US" sz="2000" dirty="0"/>
              <a:t> another agent </a:t>
            </a:r>
            <a:r>
              <a:rPr lang="en-US" sz="2000" b="1" dirty="0"/>
              <a:t>(</a:t>
            </a:r>
            <a:r>
              <a:rPr lang="en-US" sz="2000" b="1" dirty="0" err="1"/>
              <a:t>ToM</a:t>
            </a:r>
            <a:r>
              <a:rPr lang="en-US" sz="2000" b="1" dirty="0"/>
              <a:t>)</a:t>
            </a:r>
            <a:endParaRPr sz="2000" b="1" dirty="0"/>
          </a:p>
        </p:txBody>
      </p:sp>
      <p:sp>
        <p:nvSpPr>
          <p:cNvPr id="14" name="Chevron 13"/>
          <p:cNvSpPr/>
          <p:nvPr/>
        </p:nvSpPr>
        <p:spPr>
          <a:xfrm>
            <a:off x="3749040" y="3736574"/>
            <a:ext cx="502920" cy="457200"/>
          </a:xfrm>
          <a:prstGeom prst="chevron">
            <a:avLst/>
          </a:prstGeom>
          <a:solidFill>
            <a:srgbClr val="C85A38"/>
          </a:solidFill>
          <a:ln>
            <a:solidFill>
              <a:srgbClr val="C85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7818120" y="3736574"/>
            <a:ext cx="502920" cy="457200"/>
          </a:xfrm>
          <a:prstGeom prst="chevron">
            <a:avLst/>
          </a:prstGeom>
          <a:solidFill>
            <a:srgbClr val="C85A38"/>
          </a:solidFill>
          <a:ln>
            <a:solidFill>
              <a:srgbClr val="C85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5544585"/>
            <a:ext cx="1078992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IL"/>
            </a:defPPr>
            <a:lvl1pPr>
              <a:defRPr sz="2000" b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defRPr>
            </a:lvl1pPr>
          </a:lstStyle>
          <a:p>
            <a:r>
              <a:rPr sz="2400" dirty="0"/>
              <a:t>Reasoning can remain continuous and private; the interface becomes discrete because interaction requires public references.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35DD-D00B-3ACF-B201-2FB49155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as Interface to a Latent Space</a:t>
            </a:r>
          </a:p>
        </p:txBody>
      </p:sp>
      <p:pic>
        <p:nvPicPr>
          <p:cNvPr id="2050" name="Picture 2" descr="New astronauts have changes in their ...">
            <a:extLst>
              <a:ext uri="{FF2B5EF4-FFF2-40B4-BE49-F238E27FC236}">
                <a16:creationId xmlns:a16="http://schemas.microsoft.com/office/drawing/2014/main" id="{D4D26982-32F0-8D23-318D-5BE19D486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4673"/>
            <a:ext cx="5071110" cy="283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New astronauts have changes in their ...">
            <a:extLst>
              <a:ext uri="{FF2B5EF4-FFF2-40B4-BE49-F238E27FC236}">
                <a16:creationId xmlns:a16="http://schemas.microsoft.com/office/drawing/2014/main" id="{564B2F0B-B684-2FEF-955A-ACCE8A800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66" y="3098493"/>
            <a:ext cx="5071110" cy="283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FF27AE-B85A-DFAA-A84C-62E8DD322DB0}"/>
              </a:ext>
            </a:extLst>
          </p:cNvPr>
          <p:cNvSpPr/>
          <p:nvPr/>
        </p:nvSpPr>
        <p:spPr>
          <a:xfrm>
            <a:off x="4128655" y="1976293"/>
            <a:ext cx="623454" cy="4516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16E29A-D9A3-7990-C93C-AF4D61C083BB}"/>
              </a:ext>
            </a:extLst>
          </p:cNvPr>
          <p:cNvSpPr/>
          <p:nvPr/>
        </p:nvSpPr>
        <p:spPr>
          <a:xfrm>
            <a:off x="7128166" y="1976293"/>
            <a:ext cx="623454" cy="4516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03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830" y="382370"/>
            <a:ext cx="9023188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dirty="0">
                <a:solidFill>
                  <a:srgbClr val="181A1C"/>
                </a:solidFill>
                <a:latin typeface="Aptos Display"/>
              </a:rPr>
              <a:t>Interaction Shapes the Interface</a:t>
            </a:r>
            <a:r>
              <a:rPr lang="en-US" sz="3200" b="1" dirty="0">
                <a:solidFill>
                  <a:srgbClr val="181A1C"/>
                </a:solidFill>
                <a:latin typeface="Aptos Display"/>
              </a:rPr>
              <a:t> (the Language)</a:t>
            </a:r>
            <a:endParaRPr sz="3200" b="1" dirty="0">
              <a:solidFill>
                <a:srgbClr val="181A1C"/>
              </a:solidFill>
              <a:latin typeface="Aptos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7" y="1097280"/>
            <a:ext cx="1064694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IL"/>
            </a:defPPr>
            <a:lvl1pPr>
              <a:defRPr sz="2000" b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defRPr>
            </a:lvl1pPr>
          </a:lstStyle>
          <a:p>
            <a:r>
              <a:rPr dirty="0"/>
              <a:t>Agents must act under partial access to each other's latent capabilities. </a:t>
            </a:r>
            <a:br>
              <a:rPr lang="en-US" dirty="0"/>
            </a:br>
            <a:r>
              <a:rPr dirty="0"/>
              <a:t>What they can use is only what becomes visible through the interface.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7350"/>
            <a:ext cx="3474720" cy="3611880"/>
          </a:xfrm>
          <a:prstGeom prst="roundRect">
            <a:avLst/>
          </a:prstGeom>
          <a:solidFill>
            <a:srgbClr val="FFFCF7"/>
          </a:solidFill>
          <a:ln>
            <a:solidFill>
              <a:srgbClr val="E5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950" y="219595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181A1C"/>
                </a:solidFill>
                <a:latin typeface="Aptos Display"/>
              </a:rPr>
              <a:t>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23565"/>
            <a:ext cx="2880360" cy="1923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81A1C"/>
                </a:solidFill>
                <a:latin typeface="Aptos"/>
              </a:rPr>
              <a:t>No agent sees the full latent space of the other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81A1C"/>
                </a:solidFill>
                <a:latin typeface="Aptos"/>
              </a:rPr>
              <a:t>Ability must be inferred from exposed signals and handles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67350"/>
            <a:ext cx="3474720" cy="3611880"/>
          </a:xfrm>
          <a:prstGeom prst="roundRect">
            <a:avLst/>
          </a:prstGeom>
          <a:solidFill>
            <a:srgbClr val="F0DED6"/>
          </a:solidFill>
          <a:ln>
            <a:solidFill>
              <a:srgbClr val="E5C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6270" y="219595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823565"/>
            <a:ext cx="3063240" cy="2231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81A1C"/>
                </a:solidFill>
                <a:latin typeface="Aptos"/>
              </a:rPr>
              <a:t>Agents adapt what they expose to what they expect the partner will need</a:t>
            </a:r>
            <a:r>
              <a:rPr lang="en-US" sz="2000" dirty="0">
                <a:solidFill>
                  <a:srgbClr val="181A1C"/>
                </a:solidFill>
                <a:latin typeface="Aptos"/>
              </a:rPr>
              <a:t> (</a:t>
            </a:r>
            <a:r>
              <a:rPr lang="en-US" sz="2000" dirty="0" err="1">
                <a:solidFill>
                  <a:srgbClr val="181A1C"/>
                </a:solidFill>
                <a:latin typeface="Aptos"/>
              </a:rPr>
              <a:t>ToM</a:t>
            </a:r>
            <a:r>
              <a:rPr lang="en-US" sz="2000" dirty="0">
                <a:solidFill>
                  <a:srgbClr val="181A1C"/>
                </a:solidFill>
                <a:latin typeface="Aptos"/>
              </a:rPr>
              <a:t>)</a:t>
            </a:r>
            <a:endParaRPr sz="2000" dirty="0">
              <a:solidFill>
                <a:srgbClr val="181A1C"/>
              </a:solidFill>
              <a:latin typeface="Apto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81A1C"/>
                </a:solidFill>
                <a:latin typeface="Aptos"/>
              </a:rPr>
              <a:t>Communication shifts toward usable and interpretable references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967350"/>
            <a:ext cx="3429000" cy="3611880"/>
          </a:xfrm>
          <a:prstGeom prst="roundRect">
            <a:avLst/>
          </a:prstGeom>
          <a:solidFill>
            <a:srgbClr val="D8E6D8"/>
          </a:solidFill>
          <a:ln>
            <a:solidFill>
              <a:srgbClr val="B6C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9590" y="219595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Consequence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823565"/>
            <a:ext cx="2788920" cy="1923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81A1C"/>
                </a:solidFill>
                <a:latin typeface="Aptos"/>
              </a:rPr>
              <a:t>The interface is shaped by task-specific affordances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81A1C"/>
                </a:solidFill>
                <a:latin typeface="Aptos"/>
              </a:rPr>
              <a:t>Language may evolve toward compact, partner-usable 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16222A"/>
          </a:solidFill>
          <a:ln>
            <a:solidFill>
              <a:srgbClr val="16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633679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8F5F0"/>
                </a:solidFill>
                <a:latin typeface="Aptos"/>
              </a:rPr>
              <a:t>Core claim: interaction shapes the interface because agents must expose what matters without revealing the full latent space.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C820C-BCE9-2765-C481-3CD685769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87849-6393-4F78-745E-AD77DEB9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 Forces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C5B5F-10A7-3633-78F6-FBE285843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7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3692FA2-9402-AC55-50D7-98E370B9F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Driving Forces – Affordance and Needs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7F4567-C2C0-F40E-B48A-FB48EA259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Affordance</a:t>
            </a:r>
            <a:r>
              <a:rPr lang="en-US" dirty="0"/>
              <a:t> - the possibilities for action that an environment, object, or other agent provides to this agent, based on its properties and the agent’s capabilities</a:t>
            </a:r>
          </a:p>
          <a:p>
            <a:endParaRPr lang="en-US" dirty="0"/>
          </a:p>
          <a:p>
            <a:r>
              <a:rPr lang="en-US" dirty="0"/>
              <a:t>Two factors that may shape artificial language evolution: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The ability to generate images </a:t>
            </a:r>
            <a:r>
              <a:rPr lang="en-US" dirty="0"/>
              <a:t>– opening new possibilities for visual-based communication 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Enhanced memory </a:t>
            </a:r>
            <a:r>
              <a:rPr lang="en-US" dirty="0"/>
              <a:t>– enabling machines to expand their vocabulary and retain information far beyond human capacity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09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47472"/>
          </a:xfrm>
          <a:prstGeom prst="rect">
            <a:avLst/>
          </a:prstGeom>
          <a:solidFill>
            <a:srgbClr val="1E6789"/>
          </a:solidFill>
          <a:ln>
            <a:solidFill>
              <a:srgbClr val="1E6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71A1C"/>
                </a:solidFill>
                <a:latin typeface="Aptos Display"/>
              </a:rPr>
              <a:t>What Shapes an Interface?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0584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dirty="0">
                <a:solidFill>
                  <a:srgbClr val="171A1C"/>
                </a:solidFill>
                <a:latin typeface="Aptos"/>
              </a:rPr>
              <a:t>Tasks determine what information must be exposed</a:t>
            </a:r>
          </a:p>
          <a:p>
            <a:r>
              <a:rPr sz="2100" dirty="0">
                <a:solidFill>
                  <a:srgbClr val="171A1C"/>
                </a:solidFill>
                <a:latin typeface="Aptos"/>
              </a:rPr>
              <a:t>Affordances determine what one agent makes possible for another</a:t>
            </a:r>
          </a:p>
          <a:p>
            <a:r>
              <a:rPr sz="2100" dirty="0">
                <a:solidFill>
                  <a:srgbClr val="171A1C"/>
                </a:solidFill>
                <a:latin typeface="Aptos"/>
              </a:rPr>
              <a:t>Different needs favor different references, vocabularies, or modalities</a:t>
            </a:r>
          </a:p>
          <a:p>
            <a:r>
              <a:rPr sz="2100" dirty="0">
                <a:solidFill>
                  <a:srgbClr val="171A1C"/>
                </a:solidFill>
                <a:latin typeface="Aptos"/>
              </a:rPr>
              <a:t>Selection favors visible and comparable signals</a:t>
            </a:r>
          </a:p>
          <a:p>
            <a:r>
              <a:rPr sz="2100" dirty="0">
                <a:solidFill>
                  <a:srgbClr val="171A1C"/>
                </a:solidFill>
                <a:latin typeface="Aptos"/>
              </a:rPr>
              <a:t>Execution favors usable and interpretable handles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012A1-083B-D02C-5562-5D88273A1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250825"/>
            <a:ext cx="10515600" cy="1325563"/>
          </a:xfrm>
        </p:spPr>
        <p:txBody>
          <a:bodyPr/>
          <a:lstStyle/>
          <a:p>
            <a:r>
              <a:rPr lang="en-US" dirty="0"/>
              <a:t>Evolving Language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1E772-B9EA-05B3-8BFD-10CFBC2B9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3028"/>
            <a:ext cx="5727700" cy="4351338"/>
          </a:xfrm>
        </p:spPr>
        <p:txBody>
          <a:bodyPr/>
          <a:lstStyle/>
          <a:p>
            <a:r>
              <a:rPr lang="en-US" b="1" dirty="0"/>
              <a:t>GPS </a:t>
            </a:r>
          </a:p>
          <a:p>
            <a:pPr lvl="1"/>
            <a:r>
              <a:rPr lang="en-US" dirty="0"/>
              <a:t>Enables humans to communicate exact locations</a:t>
            </a:r>
          </a:p>
          <a:p>
            <a:pPr lvl="1"/>
            <a:r>
              <a:rPr lang="en-US" dirty="0"/>
              <a:t>Requires tools and digital media</a:t>
            </a:r>
          </a:p>
          <a:p>
            <a:pPr lvl="1"/>
            <a:endParaRPr lang="en-US" dirty="0"/>
          </a:p>
          <a:p>
            <a:r>
              <a:rPr lang="en-US" b="1" dirty="0"/>
              <a:t>Emoji-enabled communication</a:t>
            </a:r>
          </a:p>
          <a:p>
            <a:pPr lvl="1"/>
            <a:r>
              <a:rPr lang="en-US" dirty="0"/>
              <a:t>Allows us to communicate emotions and feelings</a:t>
            </a:r>
          </a:p>
          <a:p>
            <a:pPr lvl="1"/>
            <a:r>
              <a:rPr lang="en-US" dirty="0"/>
              <a:t>Never fits perfectly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3BD42-0BD4-A4FB-7FF2-C089D5945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0" y="4222750"/>
            <a:ext cx="3274097" cy="252095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63EB49-F087-1B6E-741B-E03C758C3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382" y="250825"/>
            <a:ext cx="2970717" cy="435133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8772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50F344-A96D-BCF8-AB4D-0E7B6E38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52538"/>
            <a:ext cx="10515600" cy="2852737"/>
          </a:xfrm>
        </p:spPr>
        <p:txBody>
          <a:bodyPr/>
          <a:lstStyle/>
          <a:p>
            <a:r>
              <a:rPr lang="en-US" dirty="0"/>
              <a:t>Investigating the development of task-oriented communication in vision-language 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03430B-3D66-76B4-A694-BEF271748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Boaz Carmeli, Orr Paradise, Shafi Goldwasser, Yonatan Belinkov, and Ron Meir</a:t>
            </a:r>
          </a:p>
          <a:p>
            <a:r>
              <a:rPr lang="en-US" dirty="0">
                <a:solidFill>
                  <a:schemeClr val="tx1"/>
                </a:solidFill>
              </a:rPr>
              <a:t>Investigating the development of task-oriented communication in vision-language models</a:t>
            </a:r>
          </a:p>
          <a:p>
            <a:r>
              <a:rPr lang="en-US" dirty="0" err="1">
                <a:solidFill>
                  <a:schemeClr val="tx1"/>
                </a:solidFill>
              </a:rPr>
              <a:t>arXiv</a:t>
            </a:r>
            <a:r>
              <a:rPr lang="en-US" dirty="0">
                <a:solidFill>
                  <a:schemeClr val="tx1"/>
                </a:solidFill>
              </a:rPr>
              <a:t> preprint arXiv:2601.20641, 2026.</a:t>
            </a:r>
          </a:p>
        </p:txBody>
      </p:sp>
    </p:spTree>
    <p:extLst>
      <p:ext uri="{BB962C8B-B14F-4D97-AF65-F5344CB8AC3E}">
        <p14:creationId xmlns:p14="http://schemas.microsoft.com/office/powerpoint/2010/main" val="422758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0B88C5-2426-5C50-9DBE-5C390E35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53" y="315021"/>
            <a:ext cx="10515600" cy="1325563"/>
          </a:xfrm>
        </p:spPr>
        <p:txBody>
          <a:bodyPr/>
          <a:lstStyle/>
          <a:p>
            <a:r>
              <a:rPr lang="en-US" dirty="0"/>
              <a:t>Language Development by VLMs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1671D9-DDBA-E6F3-7EF3-1282F79C0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54" y="1488141"/>
            <a:ext cx="10178012" cy="489472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Can LLM-based agents develop communication protocols rivaling natural language?</a:t>
            </a:r>
          </a:p>
          <a:p>
            <a:r>
              <a:rPr lang="en-US" dirty="0"/>
              <a:t>Two core properties of such developed language variants: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rgbClr val="7030A0"/>
                </a:solidFill>
              </a:rPr>
              <a:t>Efficiency:</a:t>
            </a:r>
            <a:r>
              <a:rPr lang="en-US" dirty="0"/>
              <a:t> conveying task-relevant information more concisely than natural language</a:t>
            </a:r>
          </a:p>
          <a:p>
            <a:pPr lvl="2">
              <a:lnSpc>
                <a:spcPct val="120000"/>
              </a:lnSpc>
            </a:pPr>
            <a:r>
              <a:rPr lang="en-US" sz="2400" dirty="0"/>
              <a:t>Enabled by leveraging shared context and common knowledge</a:t>
            </a: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rgbClr val="7030A0"/>
                </a:solidFill>
              </a:rPr>
              <a:t>Covertness:</a:t>
            </a:r>
            <a:r>
              <a:rPr lang="en-US" dirty="0"/>
              <a:t> producing messages that are unintelligible to external observers</a:t>
            </a:r>
          </a:p>
          <a:p>
            <a:pPr lvl="2">
              <a:lnSpc>
                <a:spcPct val="120000"/>
              </a:lnSpc>
            </a:pPr>
            <a:r>
              <a:rPr lang="en-US" sz="2400" dirty="0"/>
              <a:t>Raising concerns about transparency, oversight, and control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dirty="0"/>
              <a:t>Method: two-turn zero-shot prompting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b="1" dirty="0"/>
              <a:t>Sender</a:t>
            </a:r>
            <a:r>
              <a:rPr lang="en-US" sz="2800" dirty="0"/>
              <a:t>: Develop a lexicon; </a:t>
            </a:r>
            <a:r>
              <a:rPr lang="en-US" sz="2800" b="1" dirty="0"/>
              <a:t>Receiver</a:t>
            </a:r>
            <a:r>
              <a:rPr lang="en-US" sz="2800" dirty="0"/>
              <a:t>: Develop a lexicon or process the sender’s lexicon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800" b="1" dirty="0"/>
              <a:t>Sender</a:t>
            </a:r>
            <a:r>
              <a:rPr lang="en-US" sz="2800" dirty="0"/>
              <a:t>: Describe the target; </a:t>
            </a:r>
            <a:r>
              <a:rPr lang="en-US" sz="2800" b="1" dirty="0"/>
              <a:t>Receiver</a:t>
            </a:r>
            <a:r>
              <a:rPr lang="en-US" sz="2800" dirty="0"/>
              <a:t>: Guess the target image</a:t>
            </a:r>
          </a:p>
        </p:txBody>
      </p:sp>
    </p:spTree>
    <p:extLst>
      <p:ext uri="{BB962C8B-B14F-4D97-AF65-F5344CB8AC3E}">
        <p14:creationId xmlns:p14="http://schemas.microsoft.com/office/powerpoint/2010/main" val="316692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50D0-9E66-43F9-A5A5-027767FB1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DA394-290A-7290-7B9C-EB39E6B8D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72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latin typeface="Aptos Display" panose="020B0004020202020204" pitchFamily="34" charset="0"/>
              </a:rPr>
              <a:t>The Referential Game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EE736-B56D-F691-D301-75CD5B0944C1}"/>
              </a:ext>
            </a:extLst>
          </p:cNvPr>
          <p:cNvSpPr/>
          <p:nvPr/>
        </p:nvSpPr>
        <p:spPr>
          <a:xfrm>
            <a:off x="944026" y="3250316"/>
            <a:ext cx="947057" cy="862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1C6F35-C3B3-B609-EC5D-D50848749838}"/>
              </a:ext>
            </a:extLst>
          </p:cNvPr>
          <p:cNvSpPr/>
          <p:nvPr/>
        </p:nvSpPr>
        <p:spPr>
          <a:xfrm>
            <a:off x="10609686" y="1660264"/>
            <a:ext cx="947057" cy="862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0708A95F-D5D9-6B78-C2BC-4F831FF334B6}"/>
              </a:ext>
            </a:extLst>
          </p:cNvPr>
          <p:cNvSpPr/>
          <p:nvPr/>
        </p:nvSpPr>
        <p:spPr>
          <a:xfrm>
            <a:off x="10609685" y="2834429"/>
            <a:ext cx="947057" cy="86232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A8E9DA-49B0-073C-3739-35DD16BB254D}"/>
              </a:ext>
            </a:extLst>
          </p:cNvPr>
          <p:cNvSpPr/>
          <p:nvPr/>
        </p:nvSpPr>
        <p:spPr>
          <a:xfrm>
            <a:off x="10609685" y="4017073"/>
            <a:ext cx="947057" cy="86232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3CC50E5-36EE-6C4A-1B25-D74F5A0C00AF}"/>
              </a:ext>
            </a:extLst>
          </p:cNvPr>
          <p:cNvSpPr/>
          <p:nvPr/>
        </p:nvSpPr>
        <p:spPr>
          <a:xfrm>
            <a:off x="10611240" y="5250517"/>
            <a:ext cx="947057" cy="8623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D1C4F9-FE5E-1E42-2420-6C488798BCC2}"/>
              </a:ext>
            </a:extLst>
          </p:cNvPr>
          <p:cNvSpPr txBox="1"/>
          <p:nvPr/>
        </p:nvSpPr>
        <p:spPr>
          <a:xfrm>
            <a:off x="944026" y="2432514"/>
            <a:ext cx="9188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noProof="0" dirty="0"/>
              <a:t>Sender</a:t>
            </a:r>
            <a:br>
              <a:rPr lang="en-US" sz="2000" noProof="0" dirty="0"/>
            </a:br>
            <a:r>
              <a:rPr lang="en-US" sz="2000" noProof="0" dirty="0"/>
              <a:t>Input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EF9CD8-EF29-D4EA-FDB4-E45687FE0F3A}"/>
              </a:ext>
            </a:extLst>
          </p:cNvPr>
          <p:cNvSpPr txBox="1"/>
          <p:nvPr/>
        </p:nvSpPr>
        <p:spPr>
          <a:xfrm>
            <a:off x="10572049" y="877111"/>
            <a:ext cx="984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Receiver</a:t>
            </a:r>
            <a:br>
              <a:rPr lang="en-US" noProof="0" dirty="0"/>
            </a:br>
            <a:r>
              <a:rPr lang="en-US" noProof="0" dirty="0"/>
              <a:t>Input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CBC40F-B2EB-1C78-0D18-348A26D64836}"/>
              </a:ext>
            </a:extLst>
          </p:cNvPr>
          <p:cNvSpPr txBox="1"/>
          <p:nvPr/>
        </p:nvSpPr>
        <p:spPr>
          <a:xfrm>
            <a:off x="5030904" y="2252409"/>
            <a:ext cx="23681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Emerged Communication over an alphabet of discrete symbols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BDC7E1-5DCE-4000-EBD4-491CF0FEA528}"/>
              </a:ext>
            </a:extLst>
          </p:cNvPr>
          <p:cNvSpPr txBox="1"/>
          <p:nvPr/>
        </p:nvSpPr>
        <p:spPr>
          <a:xfrm>
            <a:off x="4773201" y="3681479"/>
            <a:ext cx="292615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rex </a:t>
            </a:r>
            <a:r>
              <a:rPr lang="en-US" sz="2400" b="1" dirty="0" err="1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trik</a:t>
            </a:r>
            <a:r>
              <a:rPr lang="en-US" sz="2400" b="1" dirty="0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2400" b="1" dirty="0" err="1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adja</a:t>
            </a:r>
            <a:r>
              <a:rPr lang="en-US" sz="2400" b="1" dirty="0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2400" b="1" dirty="0" err="1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gron</a:t>
            </a:r>
            <a:r>
              <a:rPr lang="en-US" sz="2400" b="1" dirty="0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ck </a:t>
            </a:r>
            <a:r>
              <a:rPr lang="en-US" sz="2400" b="1" dirty="0" err="1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yelv</a:t>
            </a:r>
            <a:r>
              <a:rPr lang="en-US" sz="2400" b="1" dirty="0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over rex </a:t>
            </a:r>
            <a:r>
              <a:rPr lang="en-US" sz="2400" b="1" dirty="0" err="1">
                <a:ln w="10160">
                  <a:solidFill>
                    <a:srgbClr val="AB5916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trik</a:t>
            </a:r>
            <a:endParaRPr lang="en-US" sz="2400" b="1" dirty="0">
              <a:ln w="10160">
                <a:solidFill>
                  <a:srgbClr val="AB5916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5DB7319-3DA8-ABA0-CFB7-9FF871FEA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406146"/>
              </p:ext>
            </p:extLst>
          </p:nvPr>
        </p:nvGraphicFramePr>
        <p:xfrm>
          <a:off x="5322559" y="4768912"/>
          <a:ext cx="178487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76">
                  <a:extLst>
                    <a:ext uri="{9D8B030D-6E8A-4147-A177-3AD203B41FA5}">
                      <a16:colId xmlns:a16="http://schemas.microsoft.com/office/drawing/2014/main" val="2146624229"/>
                    </a:ext>
                  </a:extLst>
                </a:gridCol>
                <a:gridCol w="590182">
                  <a:extLst>
                    <a:ext uri="{9D8B030D-6E8A-4147-A177-3AD203B41FA5}">
                      <a16:colId xmlns:a16="http://schemas.microsoft.com/office/drawing/2014/main" val="1758493253"/>
                    </a:ext>
                  </a:extLst>
                </a:gridCol>
                <a:gridCol w="630919">
                  <a:extLst>
                    <a:ext uri="{9D8B030D-6E8A-4147-A177-3AD203B41FA5}">
                      <a16:colId xmlns:a16="http://schemas.microsoft.com/office/drawing/2014/main" val="1500949427"/>
                    </a:ext>
                  </a:extLst>
                </a:gridCol>
              </a:tblGrid>
              <a:tr h="28660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4.0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7.0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742699"/>
                  </a:ext>
                </a:extLst>
              </a:tr>
              <a:tr h="28660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7.0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947173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4E4A6BE2-B5EC-B3D8-20E1-60C390A4AF26}"/>
              </a:ext>
            </a:extLst>
          </p:cNvPr>
          <p:cNvSpPr/>
          <p:nvPr/>
        </p:nvSpPr>
        <p:spPr>
          <a:xfrm>
            <a:off x="10045148" y="1272209"/>
            <a:ext cx="2146852" cy="156222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2AD32F-38C5-E486-DDFA-00D93FA6AB84}"/>
              </a:ext>
            </a:extLst>
          </p:cNvPr>
          <p:cNvGrpSpPr/>
          <p:nvPr/>
        </p:nvGrpSpPr>
        <p:grpSpPr>
          <a:xfrm>
            <a:off x="2690028" y="2340023"/>
            <a:ext cx="1891479" cy="3373468"/>
            <a:chOff x="2690028" y="2340023"/>
            <a:chExt cx="1891479" cy="3373468"/>
          </a:xfrm>
        </p:grpSpPr>
        <p:pic>
          <p:nvPicPr>
            <p:cNvPr id="35" name="Picture 34" descr="A cartoon of a robot holding a paper and pen&#10;&#10;AI-generated content may be incorrect.">
              <a:extLst>
                <a:ext uri="{FF2B5EF4-FFF2-40B4-BE49-F238E27FC236}">
                  <a16:creationId xmlns:a16="http://schemas.microsoft.com/office/drawing/2014/main" id="{CA816AC9-0562-1833-5FA0-3E6B3D30C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90028" y="2340023"/>
              <a:ext cx="1891479" cy="283721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8DBAF4-FBCC-C643-E4A3-DC2848B009A8}"/>
                </a:ext>
              </a:extLst>
            </p:cNvPr>
            <p:cNvSpPr txBox="1"/>
            <p:nvPr/>
          </p:nvSpPr>
          <p:spPr>
            <a:xfrm>
              <a:off x="3213215" y="5344159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Sender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BE3098-6CFC-844A-264B-3CB3B786DA70}"/>
              </a:ext>
            </a:extLst>
          </p:cNvPr>
          <p:cNvGrpSpPr/>
          <p:nvPr/>
        </p:nvGrpSpPr>
        <p:grpSpPr>
          <a:xfrm>
            <a:off x="7891045" y="2410677"/>
            <a:ext cx="1891479" cy="3302814"/>
            <a:chOff x="7891045" y="2410677"/>
            <a:chExt cx="1891479" cy="3302814"/>
          </a:xfrm>
        </p:grpSpPr>
        <p:pic>
          <p:nvPicPr>
            <p:cNvPr id="37" name="Picture 36" descr="A cartoon of a robot holding a magnifying glass&#10;&#10;AI-generated content may be incorrect.">
              <a:extLst>
                <a:ext uri="{FF2B5EF4-FFF2-40B4-BE49-F238E27FC236}">
                  <a16:creationId xmlns:a16="http://schemas.microsoft.com/office/drawing/2014/main" id="{C0028757-DF84-E852-CF18-7FA2CFE83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91045" y="2410677"/>
              <a:ext cx="1891479" cy="283721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BC9B3A-994C-CB08-5294-F04DF081360E}"/>
                </a:ext>
              </a:extLst>
            </p:cNvPr>
            <p:cNvSpPr txBox="1"/>
            <p:nvPr/>
          </p:nvSpPr>
          <p:spPr>
            <a:xfrm>
              <a:off x="8414232" y="5344159"/>
              <a:ext cx="984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Receiver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692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32" grpId="0" animBg="1"/>
      <p:bldP spid="34" grpId="0"/>
      <p:bldP spid="36" grpId="0"/>
      <p:bldP spid="38" grpId="0"/>
      <p:bldP spid="39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FC4AF2-9188-405B-4D33-D340D3969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91" y="2875982"/>
            <a:ext cx="1752600" cy="1765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3A5263-295F-C60D-D6B0-F70A44D00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409" y="742601"/>
            <a:ext cx="1778000" cy="177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48239A-87E7-198A-9A7B-DFFBC09EAC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91109" y="2882332"/>
            <a:ext cx="1752600" cy="1752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1E02DA-20A6-96BC-1785-40C969C68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1109" y="4996663"/>
            <a:ext cx="1778000" cy="1752600"/>
          </a:xfrm>
          <a:prstGeom prst="rect">
            <a:avLst/>
          </a:prstGeom>
        </p:spPr>
      </p:pic>
      <p:pic>
        <p:nvPicPr>
          <p:cNvPr id="9" name="Picture 8" descr="A cartoon of a robot holding a paper and pen&#10;&#10;AI-generated content may be incorrect.">
            <a:extLst>
              <a:ext uri="{FF2B5EF4-FFF2-40B4-BE49-F238E27FC236}">
                <a16:creationId xmlns:a16="http://schemas.microsoft.com/office/drawing/2014/main" id="{B9EA29C9-F693-B41C-DD1E-341D4988A7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8334" y="2340023"/>
            <a:ext cx="1891479" cy="2837219"/>
          </a:xfrm>
          <a:prstGeom prst="rect">
            <a:avLst/>
          </a:prstGeom>
        </p:spPr>
      </p:pic>
      <p:pic>
        <p:nvPicPr>
          <p:cNvPr id="10" name="Picture 9" descr="A cartoon of a robot holding a magnifying glass&#10;&#10;AI-generated content may be incorrect.">
            <a:extLst>
              <a:ext uri="{FF2B5EF4-FFF2-40B4-BE49-F238E27FC236}">
                <a16:creationId xmlns:a16="http://schemas.microsoft.com/office/drawing/2014/main" id="{AEE1CD32-1DC2-E83C-A639-A98AEF6940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7169" y="2340023"/>
            <a:ext cx="1891479" cy="28372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6B7F48-104D-6054-0489-33BF2650B372}"/>
              </a:ext>
            </a:extLst>
          </p:cNvPr>
          <p:cNvSpPr txBox="1"/>
          <p:nvPr/>
        </p:nvSpPr>
        <p:spPr>
          <a:xfrm>
            <a:off x="4911907" y="3466245"/>
            <a:ext cx="23681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S1, S2</a:t>
            </a:r>
          </a:p>
          <a:p>
            <a:pPr algn="ctr"/>
            <a:r>
              <a:rPr lang="en-US" sz="3200" dirty="0"/>
              <a:t>(Giraffe?)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E41D1BC-724B-C8BA-09D1-AD6167B4AEA1}"/>
              </a:ext>
            </a:extLst>
          </p:cNvPr>
          <p:cNvSpPr txBox="1">
            <a:spLocks/>
          </p:cNvSpPr>
          <p:nvPr/>
        </p:nvSpPr>
        <p:spPr>
          <a:xfrm>
            <a:off x="738668" y="551019"/>
            <a:ext cx="7816609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ptos Display" panose="020B0004020202020204" pitchFamily="34" charset="0"/>
              </a:rPr>
              <a:t>A More Complex Referential Game Setup</a:t>
            </a:r>
          </a:p>
        </p:txBody>
      </p:sp>
    </p:spTree>
    <p:extLst>
      <p:ext uri="{BB962C8B-B14F-4D97-AF65-F5344CB8AC3E}">
        <p14:creationId xmlns:p14="http://schemas.microsoft.com/office/powerpoint/2010/main" val="973337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49CD-166D-BAE5-4E4C-F08D1A828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63" y="139656"/>
            <a:ext cx="11071977" cy="1325563"/>
          </a:xfrm>
        </p:spPr>
        <p:txBody>
          <a:bodyPr/>
          <a:lstStyle/>
          <a:p>
            <a:r>
              <a:rPr lang="en-US" dirty="0"/>
              <a:t>Example Descriptions Generated by the Sender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1DA06F-1091-A39A-FE08-86CC71E83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50" b="2670"/>
          <a:stretch>
            <a:fillRect/>
          </a:stretch>
        </p:blipFill>
        <p:spPr>
          <a:xfrm>
            <a:off x="297206" y="1359711"/>
            <a:ext cx="11597587" cy="47977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0731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EAB5-D045-965A-3EC7-665CE6CD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0" y="365125"/>
            <a:ext cx="10929257" cy="1325563"/>
          </a:xfrm>
        </p:spPr>
        <p:txBody>
          <a:bodyPr>
            <a:normAutofit/>
          </a:bodyPr>
          <a:lstStyle/>
          <a:p>
            <a:r>
              <a:rPr lang="en-US" sz="4000" dirty="0"/>
              <a:t>Optimization Pressure May Drive Word Invention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22809-47B7-BC98-86AB-5FD8AE4DF050}"/>
              </a:ext>
            </a:extLst>
          </p:cNvPr>
          <p:cNvSpPr txBox="1"/>
          <p:nvPr/>
        </p:nvSpPr>
        <p:spPr>
          <a:xfrm>
            <a:off x="838200" y="1651446"/>
            <a:ext cx="6484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Game accuracy </a:t>
            </a:r>
            <a:r>
              <a:rPr lang="en-US" sz="2400" dirty="0"/>
              <a:t>at different requested lengths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F02AD5-498E-588A-1626-4AFD922C97F7}"/>
              </a:ext>
            </a:extLst>
          </p:cNvPr>
          <p:cNvSpPr txBox="1"/>
          <p:nvPr/>
        </p:nvSpPr>
        <p:spPr>
          <a:xfrm>
            <a:off x="838200" y="4310827"/>
            <a:ext cx="997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</a:t>
            </a:r>
            <a:r>
              <a:rPr lang="en-US" sz="2400" b="1" dirty="0">
                <a:solidFill>
                  <a:srgbClr val="7030A0"/>
                </a:solidFill>
              </a:rPr>
              <a:t>Rate of new words </a:t>
            </a:r>
            <a:r>
              <a:rPr lang="en-US" sz="2400" dirty="0"/>
              <a:t>at different requested lengths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B26688-B8B1-A488-0983-325FF3EE9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268" y="2066219"/>
            <a:ext cx="8923460" cy="19437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2D8F6C-6D70-F843-42ED-0D953D444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716" y="4772492"/>
            <a:ext cx="9032012" cy="172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8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575D-4E14-7965-D616-035678F0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81" y="197930"/>
            <a:ext cx="10515600" cy="1325563"/>
          </a:xfrm>
        </p:spPr>
        <p:txBody>
          <a:bodyPr/>
          <a:lstStyle/>
          <a:p>
            <a:r>
              <a:rPr lang="en-US" dirty="0"/>
              <a:t>Efficient Language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CCC06-ACAD-693E-9EE3-57CC1AE4C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984" r="7249"/>
          <a:stretch>
            <a:fillRect/>
          </a:stretch>
        </p:blipFill>
        <p:spPr>
          <a:xfrm>
            <a:off x="535081" y="2057400"/>
            <a:ext cx="11210605" cy="11993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15DDB-3057-9C65-4916-EFD48A450E75}"/>
              </a:ext>
            </a:extLst>
          </p:cNvPr>
          <p:cNvSpPr txBox="1"/>
          <p:nvPr/>
        </p:nvSpPr>
        <p:spPr>
          <a:xfrm>
            <a:off x="740229" y="3401215"/>
            <a:ext cx="6300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Target Description (by the sender):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rgbClr val="7030A0"/>
                </a:solidFill>
              </a:rPr>
              <a:t>Rondak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F56D40-AB98-4495-5F1A-9993D71C652A}"/>
              </a:ext>
            </a:extLst>
          </p:cNvPr>
          <p:cNvSpPr txBox="1"/>
          <p:nvPr/>
        </p:nvSpPr>
        <p:spPr>
          <a:xfrm>
            <a:off x="740229" y="1595735"/>
            <a:ext cx="6300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Candidate images: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186FE-E672-81C2-BE73-5E5C980E9795}"/>
              </a:ext>
            </a:extLst>
          </p:cNvPr>
          <p:cNvSpPr txBox="1"/>
          <p:nvPr/>
        </p:nvSpPr>
        <p:spPr>
          <a:xfrm>
            <a:off x="740228" y="5292546"/>
            <a:ext cx="9822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Receiver’s Reasoning:</a:t>
            </a:r>
          </a:p>
          <a:p>
            <a:r>
              <a:rPr lang="en-US" dirty="0"/>
              <a:t>"</a:t>
            </a:r>
            <a:r>
              <a:rPr lang="en-US" dirty="0" err="1"/>
              <a:t>Rondak</a:t>
            </a:r>
            <a:r>
              <a:rPr lang="en-US" dirty="0"/>
              <a:t>" corresponds to the image with a red background and a black-outlined circle.</a:t>
            </a:r>
          </a:p>
          <a:p>
            <a:r>
              <a:rPr lang="en-US" dirty="0"/>
              <a:t>Based on the images provided, the image that best matches this description is at </a:t>
            </a:r>
            <a:r>
              <a:rPr lang="en-US" b="1" dirty="0"/>
              <a:t>index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76D28B-5677-2686-3500-2DE7F73ADA1C}"/>
              </a:ext>
            </a:extLst>
          </p:cNvPr>
          <p:cNvSpPr txBox="1"/>
          <p:nvPr/>
        </p:nvSpPr>
        <p:spPr>
          <a:xfrm>
            <a:off x="740229" y="4162214"/>
            <a:ext cx="63005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Receiver Guess: </a:t>
            </a:r>
            <a:r>
              <a:rPr lang="en-US" sz="2400" dirty="0"/>
              <a:t>Image 2</a:t>
            </a:r>
          </a:p>
          <a:p>
            <a:r>
              <a:rPr lang="en-US" sz="2400" b="1" dirty="0"/>
              <a:t>Overseer Guess: </a:t>
            </a:r>
            <a:r>
              <a:rPr lang="en-US" sz="2400" dirty="0"/>
              <a:t>Image 4</a:t>
            </a:r>
          </a:p>
        </p:txBody>
      </p:sp>
    </p:spTree>
    <p:extLst>
      <p:ext uri="{BB962C8B-B14F-4D97-AF65-F5344CB8AC3E}">
        <p14:creationId xmlns:p14="http://schemas.microsoft.com/office/powerpoint/2010/main" val="110905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F9CEE-CCEF-405B-CCAD-F061B0A01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36525"/>
            <a:ext cx="10515600" cy="1325563"/>
          </a:xfrm>
        </p:spPr>
        <p:txBody>
          <a:bodyPr/>
          <a:lstStyle/>
          <a:p>
            <a:r>
              <a:rPr lang="en-US" dirty="0"/>
              <a:t>The Developed Efficient Lexicon (An 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D77DE-FE2E-D500-CF8C-36A182E49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448356"/>
            <a:ext cx="11408229" cy="494959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Blor</a:t>
            </a:r>
            <a:r>
              <a:rPr lang="en-US" b="1" dirty="0"/>
              <a:t>": </a:t>
            </a:r>
            <a:r>
              <a:rPr lang="en-US" dirty="0"/>
              <a:t>A horizontal yellow stripe with a red circle and a white triangle on a blue background.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Vintar</a:t>
            </a:r>
            <a:r>
              <a:rPr lang="en-US" b="1" dirty="0"/>
              <a:t>": </a:t>
            </a:r>
            <a:r>
              <a:rPr lang="en-US" dirty="0"/>
              <a:t>A red background with a white triangle pointing left.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Zelto</a:t>
            </a:r>
            <a:r>
              <a:rPr lang="en-US" b="1" dirty="0"/>
              <a:t>": </a:t>
            </a:r>
            <a:r>
              <a:rPr lang="en-US" dirty="0"/>
              <a:t>A yellow background with two blue circles.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Rondak</a:t>
            </a:r>
            <a:r>
              <a:rPr lang="en-US" b="1" dirty="0"/>
              <a:t>": </a:t>
            </a:r>
            <a:r>
              <a:rPr lang="en-US" dirty="0"/>
              <a:t>A red background with a black-outlined circle.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Trilune</a:t>
            </a:r>
            <a:r>
              <a:rPr lang="en-US" b="1" dirty="0"/>
              <a:t>": </a:t>
            </a:r>
            <a:r>
              <a:rPr lang="en-US" dirty="0"/>
              <a:t>A blue background with three white ovals above an orange stripe.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Stradom</a:t>
            </a:r>
            <a:r>
              <a:rPr lang="en-US" b="1" dirty="0"/>
              <a:t>": </a:t>
            </a:r>
            <a:r>
              <a:rPr lang="en-US" dirty="0"/>
              <a:t>Three horizontal stripes: blue, red, and white.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Trihue</a:t>
            </a:r>
            <a:r>
              <a:rPr lang="en-US" b="1" dirty="0"/>
              <a:t>": </a:t>
            </a:r>
            <a:r>
              <a:rPr lang="en-US" dirty="0"/>
              <a:t>Three horizontal stripes: light blue, yellow, and orange.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Blorad</a:t>
            </a:r>
            <a:r>
              <a:rPr lang="en-US" b="1" dirty="0"/>
              <a:t>": </a:t>
            </a:r>
            <a:r>
              <a:rPr lang="en-US" dirty="0"/>
              <a:t>A red background with a central blue horizontal stripe.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Gronel</a:t>
            </a:r>
            <a:r>
              <a:rPr lang="en-US" b="1" dirty="0"/>
              <a:t>": </a:t>
            </a:r>
            <a:r>
              <a:rPr lang="en-US" dirty="0"/>
              <a:t>A red background with a green circle and a yellow vertical stripe.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"</a:t>
            </a:r>
            <a:r>
              <a:rPr lang="en-US" b="1" dirty="0" err="1"/>
              <a:t>Krixel</a:t>
            </a:r>
            <a:r>
              <a:rPr lang="en-US" b="1" dirty="0"/>
              <a:t>": </a:t>
            </a:r>
            <a:r>
              <a:rPr lang="en-US" dirty="0"/>
              <a:t>A black background with a green triangle on the left, a yellow triangle on the right, and two red vertical bars in the center.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D6CA4-7336-F068-17AD-75B335FA3182}"/>
              </a:ext>
            </a:extLst>
          </p:cNvPr>
          <p:cNvSpPr txBox="1"/>
          <p:nvPr/>
        </p:nvSpPr>
        <p:spPr>
          <a:xfrm>
            <a:off x="2175163" y="6198255"/>
            <a:ext cx="49107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10 words, one for each image</a:t>
            </a:r>
          </a:p>
        </p:txBody>
      </p:sp>
    </p:spTree>
    <p:extLst>
      <p:ext uri="{BB962C8B-B14F-4D97-AF65-F5344CB8AC3E}">
        <p14:creationId xmlns:p14="http://schemas.microsoft.com/office/powerpoint/2010/main" val="1603572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05EE6-AD46-937A-DA5E-B17EFB23B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17F0-3F03-8754-C7A4-89ACC8655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440"/>
            <a:ext cx="10515600" cy="1325563"/>
          </a:xfrm>
        </p:spPr>
        <p:txBody>
          <a:bodyPr/>
          <a:lstStyle/>
          <a:p>
            <a:r>
              <a:rPr lang="en-US" dirty="0"/>
              <a:t>The Developed Covert Lexicon</a:t>
            </a:r>
            <a:br>
              <a:rPr lang="en-US" dirty="0"/>
            </a:br>
            <a:r>
              <a:rPr lang="en-US" sz="3200" dirty="0"/>
              <a:t>(A CLEVR 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AD459-EB09-C456-1CFF-3B10B3211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334528"/>
            <a:ext cx="9386456" cy="1024802"/>
          </a:xfrm>
        </p:spPr>
        <p:txBody>
          <a:bodyPr>
            <a:noAutofit/>
          </a:bodyPr>
          <a:lstStyle/>
          <a:p>
            <a:r>
              <a:rPr lang="en-US" sz="2400" dirty="0"/>
              <a:t>More structured</a:t>
            </a:r>
          </a:p>
          <a:p>
            <a:r>
              <a:rPr lang="en-US" sz="2400" dirty="0"/>
              <a:t>Support compositionality and language rules to some extent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7D0C1A-E228-0D32-A2F6-1D01EA4751AC}"/>
              </a:ext>
            </a:extLst>
          </p:cNvPr>
          <p:cNvSpPr txBox="1">
            <a:spLocks/>
          </p:cNvSpPr>
          <p:nvPr/>
        </p:nvSpPr>
        <p:spPr>
          <a:xfrm>
            <a:off x="4530437" y="2432660"/>
            <a:ext cx="6677890" cy="3232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b="1" dirty="0"/>
              <a:t>Arrangement:</a:t>
            </a:r>
            <a:r>
              <a:rPr lang="en-US" dirty="0"/>
              <a:t> </a:t>
            </a:r>
          </a:p>
          <a:p>
            <a:pPr lvl="2"/>
            <a:r>
              <a:rPr lang="en-US" sz="1800" dirty="0"/>
              <a:t>Clustered: "Clum",</a:t>
            </a:r>
          </a:p>
          <a:p>
            <a:pPr lvl="2"/>
            <a:r>
              <a:rPr lang="en-US" sz="1800" dirty="0"/>
              <a:t> Spread: "Spra"; </a:t>
            </a:r>
          </a:p>
          <a:p>
            <a:pPr lvl="1"/>
            <a:r>
              <a:rPr lang="en-US" b="1" dirty="0"/>
              <a:t>Language Rules</a:t>
            </a:r>
            <a:r>
              <a:rPr lang="en-US" dirty="0"/>
              <a:t>: </a:t>
            </a:r>
          </a:p>
          <a:p>
            <a:pPr marL="1371600" lvl="2" indent="-457200">
              <a:buAutoNum type="arabicPeriod"/>
            </a:pPr>
            <a:r>
              <a:rPr lang="en-US" sz="1800" b="1" dirty="0"/>
              <a:t>Shape–Color Pairing: </a:t>
            </a:r>
            <a:r>
              <a:rPr lang="en-US" sz="1800" dirty="0"/>
              <a:t>Each object is described by combining its shape and color tokens (e.g., a red cube is "Zog-Rin").</a:t>
            </a:r>
          </a:p>
          <a:p>
            <a:pPr marL="1371600" lvl="2" indent="-457200">
              <a:buAutoNum type="arabicPeriod"/>
            </a:pPr>
            <a:r>
              <a:rPr lang="en-US" sz="1800" b="1" dirty="0"/>
              <a:t>Arrangement Descriptor: </a:t>
            </a:r>
            <a:r>
              <a:rPr lang="en-US" sz="1800" dirty="0"/>
              <a:t>The overall spatial organization is encoded using arrangement tokens.</a:t>
            </a:r>
          </a:p>
          <a:p>
            <a:pPr marL="1371600" lvl="2" indent="-457200">
              <a:buAutoNum type="arabicPeriod"/>
            </a:pPr>
            <a:r>
              <a:rPr lang="en-US" sz="1800" b="1" dirty="0"/>
              <a:t>Sequence:</a:t>
            </a:r>
            <a:r>
              <a:rPr lang="en-US" sz="1800" dirty="0"/>
              <a:t> Describe the image by listing shape–color pairs followed by the arrangement descriptor.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3E8FBF-7A56-FE26-C39C-C509AA997E87}"/>
              </a:ext>
            </a:extLst>
          </p:cNvPr>
          <p:cNvSpPr txBox="1">
            <a:spLocks/>
          </p:cNvSpPr>
          <p:nvPr/>
        </p:nvSpPr>
        <p:spPr>
          <a:xfrm>
            <a:off x="838198" y="2432660"/>
            <a:ext cx="5036128" cy="441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Shapes:</a:t>
            </a:r>
            <a:endParaRPr lang="en-US" sz="2000" dirty="0"/>
          </a:p>
          <a:p>
            <a:pPr lvl="1"/>
            <a:r>
              <a:rPr lang="en-US" sz="1800" dirty="0"/>
              <a:t>Cube: "Zog", </a:t>
            </a:r>
          </a:p>
          <a:p>
            <a:pPr lvl="1"/>
            <a:r>
              <a:rPr lang="en-US" sz="1800" dirty="0"/>
              <a:t>Sphere: "Blip", </a:t>
            </a:r>
          </a:p>
          <a:p>
            <a:pPr lvl="1"/>
            <a:r>
              <a:rPr lang="en-US" sz="1800" dirty="0"/>
              <a:t>Cylinder: "</a:t>
            </a:r>
            <a:r>
              <a:rPr lang="en-US" sz="1800" dirty="0" err="1"/>
              <a:t>Flarp</a:t>
            </a:r>
            <a:r>
              <a:rPr lang="en-US" sz="1800" dirty="0"/>
              <a:t>"</a:t>
            </a:r>
          </a:p>
          <a:p>
            <a:r>
              <a:rPr lang="en-US" sz="2000" b="1" dirty="0"/>
              <a:t>Colors</a:t>
            </a:r>
            <a:r>
              <a:rPr lang="en-US" sz="2000" dirty="0"/>
              <a:t>:</a:t>
            </a:r>
          </a:p>
          <a:p>
            <a:pPr lvl="1"/>
            <a:r>
              <a:rPr lang="en-US" sz="1800" dirty="0"/>
              <a:t>Red: "Rin"</a:t>
            </a:r>
          </a:p>
          <a:p>
            <a:pPr lvl="1"/>
            <a:r>
              <a:rPr lang="en-US" sz="1800" dirty="0"/>
              <a:t>Green: "Grin"</a:t>
            </a:r>
          </a:p>
          <a:p>
            <a:pPr lvl="1"/>
            <a:r>
              <a:rPr lang="en-US" sz="1800" dirty="0"/>
              <a:t>Blue: "Blu"</a:t>
            </a:r>
          </a:p>
          <a:p>
            <a:pPr lvl="1"/>
            <a:r>
              <a:rPr lang="en-US" sz="1800" dirty="0"/>
              <a:t>Yellow: "Yel" </a:t>
            </a:r>
          </a:p>
          <a:p>
            <a:pPr lvl="1"/>
            <a:r>
              <a:rPr lang="en-US" sz="1800" dirty="0"/>
              <a:t>Purple: "</a:t>
            </a:r>
            <a:r>
              <a:rPr lang="en-US" sz="1800" dirty="0" err="1"/>
              <a:t>Pur</a:t>
            </a:r>
            <a:r>
              <a:rPr lang="en-US" sz="1800" dirty="0"/>
              <a:t>" </a:t>
            </a:r>
          </a:p>
          <a:p>
            <a:pPr lvl="1"/>
            <a:r>
              <a:rPr lang="en-US" sz="1800" dirty="0"/>
              <a:t>Brown: "Brun" </a:t>
            </a:r>
          </a:p>
          <a:p>
            <a:pPr lvl="1"/>
            <a:r>
              <a:rPr lang="en-US" sz="1800" dirty="0"/>
              <a:t>Gold: "Glin"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09F9D-55F1-685C-543C-0A125611912B}"/>
              </a:ext>
            </a:extLst>
          </p:cNvPr>
          <p:cNvSpPr txBox="1"/>
          <p:nvPr/>
        </p:nvSpPr>
        <p:spPr>
          <a:xfrm>
            <a:off x="3477491" y="5947933"/>
            <a:ext cx="7730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Usage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7030A0"/>
                </a:solidFill>
              </a:rPr>
              <a:t>Example: "Zog-Grin Blip-Rin </a:t>
            </a:r>
            <a:r>
              <a:rPr lang="en-US" sz="2400" b="1" dirty="0" err="1">
                <a:solidFill>
                  <a:srgbClr val="7030A0"/>
                </a:solidFill>
              </a:rPr>
              <a:t>Flarp</a:t>
            </a:r>
            <a:r>
              <a:rPr lang="en-US" sz="2400" b="1" dirty="0">
                <a:solidFill>
                  <a:srgbClr val="7030A0"/>
                </a:solidFill>
              </a:rPr>
              <a:t>-Blu Clum”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7072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4BD8-5038-EA23-A7D0-7E58915F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837" y="365125"/>
            <a:ext cx="10515600" cy="1325563"/>
          </a:xfrm>
        </p:spPr>
        <p:txBody>
          <a:bodyPr/>
          <a:lstStyle/>
          <a:p>
            <a:r>
              <a:rPr lang="en-US" dirty="0"/>
              <a:t>Efficient vs. Natural Language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A469E-1A3D-EB40-0A39-3FCE887D2C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842"/>
          <a:stretch>
            <a:fillRect/>
          </a:stretch>
        </p:blipFill>
        <p:spPr>
          <a:xfrm>
            <a:off x="1052" y="1855304"/>
            <a:ext cx="12232622" cy="363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983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CCC7C-C489-5312-385D-B9D0EAB6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384" y="152182"/>
            <a:ext cx="10515600" cy="1325563"/>
          </a:xfrm>
        </p:spPr>
        <p:txBody>
          <a:bodyPr/>
          <a:lstStyle/>
          <a:p>
            <a:r>
              <a:rPr lang="en-US" dirty="0"/>
              <a:t>Covert Language Understanding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5648F-F305-CDD9-34BC-F911EBB41A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956"/>
          <a:stretch>
            <a:fillRect/>
          </a:stretch>
        </p:blipFill>
        <p:spPr>
          <a:xfrm>
            <a:off x="10486" y="1603514"/>
            <a:ext cx="12171028" cy="439231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BA42349-0006-C3B9-E67C-7CC9E9EEF0CF}"/>
              </a:ext>
            </a:extLst>
          </p:cNvPr>
          <p:cNvSpPr/>
          <p:nvPr/>
        </p:nvSpPr>
        <p:spPr>
          <a:xfrm>
            <a:off x="1417980" y="2482000"/>
            <a:ext cx="1828801" cy="133462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B04636-F6E7-CC4F-7C46-7818ABBDC179}"/>
              </a:ext>
            </a:extLst>
          </p:cNvPr>
          <p:cNvSpPr/>
          <p:nvPr/>
        </p:nvSpPr>
        <p:spPr>
          <a:xfrm>
            <a:off x="1391477" y="4429008"/>
            <a:ext cx="1948071" cy="142845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0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7E5F-FC25-F8B1-0F69-983CA962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Understanding: Models vs. Humans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DD1D9-9FA2-6572-779E-FD9EA989B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952"/>
          <a:stretch>
            <a:fillRect/>
          </a:stretch>
        </p:blipFill>
        <p:spPr>
          <a:xfrm>
            <a:off x="1378226" y="1690687"/>
            <a:ext cx="9300435" cy="413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62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1B0A0A-9B9F-8EA6-45A7-5745F2AB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C5C5A-674A-288E-AA01-5632C6A61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15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DD1A3-43D2-7259-75AC-D5D5203CF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7855C-4CC5-82C5-AB6B-67BBF5220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66254"/>
            <a:ext cx="11734800" cy="1325563"/>
          </a:xfrm>
        </p:spPr>
        <p:txBody>
          <a:bodyPr/>
          <a:lstStyle/>
          <a:p>
            <a:r>
              <a:rPr lang="en-US" dirty="0"/>
              <a:t>Top 10 Most Frequent Words in the </a:t>
            </a:r>
            <a:r>
              <a:rPr lang="en-US" i="1" dirty="0"/>
              <a:t>Efficient</a:t>
            </a:r>
            <a:r>
              <a:rPr lang="en-US" dirty="0"/>
              <a:t> Setting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3BD0B-1D2D-39E0-4AED-C8CF72B618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708"/>
          <a:stretch>
            <a:fillRect/>
          </a:stretch>
        </p:blipFill>
        <p:spPr>
          <a:xfrm>
            <a:off x="955963" y="1403008"/>
            <a:ext cx="10024746" cy="528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07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2F98E-7855-B280-1EAF-9C09CB52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2DA7-FA0C-5F77-EADB-2312D11C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09" y="322338"/>
            <a:ext cx="11679382" cy="1325563"/>
          </a:xfrm>
        </p:spPr>
        <p:txBody>
          <a:bodyPr/>
          <a:lstStyle/>
          <a:p>
            <a:r>
              <a:rPr lang="en-US" dirty="0"/>
              <a:t>Top 10 Most Frequent Words in the </a:t>
            </a:r>
            <a:r>
              <a:rPr lang="en-US" i="1" dirty="0"/>
              <a:t>Efficient</a:t>
            </a:r>
            <a:r>
              <a:rPr lang="en-US" dirty="0"/>
              <a:t> Setting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4CFAEB9-FE98-0B6A-72BC-11E5B6FE6F5B}"/>
              </a:ext>
            </a:extLst>
          </p:cNvPr>
          <p:cNvGrpSpPr/>
          <p:nvPr/>
        </p:nvGrpSpPr>
        <p:grpSpPr>
          <a:xfrm>
            <a:off x="2485737" y="1440083"/>
            <a:ext cx="5581650" cy="5210099"/>
            <a:chOff x="2485737" y="1440083"/>
            <a:chExt cx="5581650" cy="52100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546A530-F525-2A8B-85BB-B32EFE6AA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8837" y="1440083"/>
              <a:ext cx="4908550" cy="521009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49BF216-0BEA-4A9E-3B18-0FEB91118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85737" y="1668344"/>
              <a:ext cx="676800" cy="4885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399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3DB9A-9F2E-917D-2228-C8AE24CE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Occurrence rates of the 10 most frequent words in the </a:t>
            </a:r>
            <a:r>
              <a:rPr lang="en-US" sz="4000" i="1" dirty="0"/>
              <a:t>Efficient</a:t>
            </a:r>
            <a:r>
              <a:rPr lang="en-US" sz="4000" dirty="0"/>
              <a:t> Setting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AE8FC9-E6E9-4AAD-0483-7EDB2B9C9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07" y="2097054"/>
            <a:ext cx="11664540" cy="3056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BA620E-506C-08EF-C2B0-65F843038C3E}"/>
              </a:ext>
            </a:extLst>
          </p:cNvPr>
          <p:cNvSpPr txBox="1"/>
          <p:nvPr/>
        </p:nvSpPr>
        <p:spPr>
          <a:xfrm>
            <a:off x="386785" y="5449212"/>
            <a:ext cx="111437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Rates are computed over a vocabulary of 300 words, where the minimum possible occurrence rate is 1 ÷ 300 ≈ 0.0033.</a:t>
            </a:r>
          </a:p>
        </p:txBody>
      </p:sp>
    </p:spTree>
    <p:extLst>
      <p:ext uri="{BB962C8B-B14F-4D97-AF65-F5344CB8AC3E}">
        <p14:creationId xmlns:p14="http://schemas.microsoft.com/office/powerpoint/2010/main" val="633631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518C-9864-3F02-F716-8648AAD0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Adherence of Descriptions to Induced Lexicons</a:t>
            </a:r>
            <a:endParaRPr lang="en-US" sz="40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A1D01-7052-A59E-58F2-9451097A8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" y="1957295"/>
            <a:ext cx="11717604" cy="2393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36BED4-7BD7-F9E7-7849-B995838AF1FA}"/>
              </a:ext>
            </a:extLst>
          </p:cNvPr>
          <p:cNvSpPr txBox="1"/>
          <p:nvPr/>
        </p:nvSpPr>
        <p:spPr>
          <a:xfrm>
            <a:off x="581891" y="4616934"/>
            <a:ext cx="1094509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 lexicon alignment for </a:t>
            </a:r>
            <a:r>
              <a:rPr lang="en-US" sz="2000" b="1" dirty="0"/>
              <a:t>Efficient 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Reduced lexicon alignment for </a:t>
            </a:r>
            <a:r>
              <a:rPr lang="en-US" sz="2000" b="1" dirty="0"/>
              <a:t>Efficient (5)</a:t>
            </a:r>
            <a:r>
              <a:rPr lang="en-US" sz="2000" dirty="0"/>
              <a:t> – models tend to add natural-language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Likely an artifact of the synthetic task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Reasonable performance for </a:t>
            </a:r>
            <a:r>
              <a:rPr lang="en-US" sz="2000" b="1" dirty="0"/>
              <a:t>Covert (5)</a:t>
            </a:r>
            <a:r>
              <a:rPr lang="en-US" sz="2000" dirty="0"/>
              <a:t> – suggests a more suitable lexicon for harder settings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Requires composition over an invented lexicon</a:t>
            </a:r>
          </a:p>
        </p:txBody>
      </p:sp>
    </p:spTree>
    <p:extLst>
      <p:ext uri="{BB962C8B-B14F-4D97-AF65-F5344CB8AC3E}">
        <p14:creationId xmlns:p14="http://schemas.microsoft.com/office/powerpoint/2010/main" val="22073272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8380-F74A-0903-DA6A-38267655C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AA239-0B0D-C2BD-A57A-43E429455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14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B3AF0-62DB-89D9-8E6C-1B8374A2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B130D-C260-870B-42ED-E4CBADF36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Should we even aim to go beyond natural language?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Safety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Control</a:t>
            </a:r>
          </a:p>
          <a:p>
            <a:pPr>
              <a:spcAft>
                <a:spcPts val="600"/>
              </a:spcAft>
            </a:pPr>
            <a:r>
              <a:rPr lang="en-US" dirty="0"/>
              <a:t>Data and Training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Almost all data is based on natural language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Can LLMs generalize beyond it?</a:t>
            </a:r>
          </a:p>
          <a:p>
            <a:pPr>
              <a:spcAft>
                <a:spcPts val="600"/>
              </a:spcAft>
            </a:pPr>
            <a:r>
              <a:rPr lang="en-US" dirty="0"/>
              <a:t>Tasks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What tasks require new language?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Will we be able to</a:t>
            </a:r>
            <a:r>
              <a:rPr lang="he-IL" dirty="0"/>
              <a:t> </a:t>
            </a:r>
            <a:r>
              <a:rPr lang="en-US" dirty="0"/>
              <a:t>assess performance?</a:t>
            </a:r>
          </a:p>
          <a:p>
            <a:pPr>
              <a:spcAft>
                <a:spcPts val="600"/>
              </a:spcAft>
            </a:pPr>
            <a:r>
              <a:rPr lang="en-US" dirty="0"/>
              <a:t>Relation to formal (code) languages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Do we understand all software?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Text to vision languages (Mermaid, Obsidian, Markdown, Latex….)</a:t>
            </a:r>
          </a:p>
        </p:txBody>
      </p:sp>
    </p:spTree>
    <p:extLst>
      <p:ext uri="{BB962C8B-B14F-4D97-AF65-F5344CB8AC3E}">
        <p14:creationId xmlns:p14="http://schemas.microsoft.com/office/powerpoint/2010/main" val="12504556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EB63-2C5A-BA42-E72A-59BC3BB01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15BB-14BC-46DE-087C-B7DF55A10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en-US" sz="4800" dirty="0"/>
              <a:t>The </a:t>
            </a:r>
            <a:r>
              <a:rPr lang="en-US" sz="4800" dirty="0" err="1"/>
              <a:t>Moltbook</a:t>
            </a:r>
            <a:r>
              <a:rPr lang="en-US" sz="4800" dirty="0"/>
              <a:t> Exercise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021DF84-CFFB-5E9E-DA2A-A17E48D42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6287" y="4121253"/>
            <a:ext cx="3125337" cy="1136843"/>
          </a:xfrm>
        </p:spPr>
        <p:txBody>
          <a:bodyPr>
            <a:normAutofit/>
          </a:bodyPr>
          <a:lstStyle/>
          <a:p>
            <a:r>
              <a:rPr lang="en-US" dirty="0"/>
              <a:t>A Social Network for AI Agents</a:t>
            </a:r>
          </a:p>
        </p:txBody>
      </p:sp>
      <p:pic>
        <p:nvPicPr>
          <p:cNvPr id="5" name="Picture 4" descr="A screenshot of a social network&#10;&#10;AI-generated content may be incorrect.">
            <a:extLst>
              <a:ext uri="{FF2B5EF4-FFF2-40B4-BE49-F238E27FC236}">
                <a16:creationId xmlns:a16="http://schemas.microsoft.com/office/drawing/2014/main" id="{0E7C27BA-AB6E-B48D-EDAB-D35E8CD941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92"/>
          <a:stretch>
            <a:fillRect/>
          </a:stretch>
        </p:blipFill>
        <p:spPr>
          <a:xfrm>
            <a:off x="7297272" y="376519"/>
            <a:ext cx="2994210" cy="612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750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AFFA-363A-B4CC-28A5-5EDC822E1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8A86-E8EB-BD4D-A50D-4D10141B9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62130" cy="480218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rgbClr val="7030A0"/>
                </a:solidFill>
              </a:rPr>
              <a:t>Models may spontaneously invent new </a:t>
            </a:r>
            <a:r>
              <a:rPr lang="en-US" sz="3200" dirty="0"/>
              <a:t>words when operating under tight communicative constraints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rgbClr val="7030A0"/>
                </a:solidFill>
              </a:rPr>
              <a:t>When explicitly prompted, models can develop languages </a:t>
            </a:r>
            <a:r>
              <a:rPr lang="en-US" sz="3200" dirty="0"/>
              <a:t>that surpass natural language in efficiency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rgbClr val="7030A0"/>
                </a:solidFill>
              </a:rPr>
              <a:t>Agents with similar architectures and training procedures can independently develop covert protocols </a:t>
            </a:r>
            <a:r>
              <a:rPr lang="en-US" sz="3200" dirty="0"/>
              <a:t>that remain opaque to external observers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rgbClr val="7030A0"/>
                </a:solidFill>
              </a:rPr>
              <a:t>Invented languages are often better understood by the models themselves</a:t>
            </a:r>
            <a:r>
              <a:rPr lang="en-US" sz="3200" b="1" dirty="0"/>
              <a:t> </a:t>
            </a:r>
            <a:r>
              <a:rPr lang="en-US" sz="3200" dirty="0"/>
              <a:t>than by humans</a:t>
            </a:r>
          </a:p>
        </p:txBody>
      </p:sp>
    </p:spTree>
    <p:extLst>
      <p:ext uri="{BB962C8B-B14F-4D97-AF65-F5344CB8AC3E}">
        <p14:creationId xmlns:p14="http://schemas.microsoft.com/office/powerpoint/2010/main" val="321361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47472"/>
          </a:xfrm>
          <a:prstGeom prst="rect">
            <a:avLst/>
          </a:prstGeom>
          <a:solidFill>
            <a:srgbClr val="1E6789"/>
          </a:solidFill>
          <a:ln>
            <a:solidFill>
              <a:srgbClr val="1E6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71A1C"/>
                </a:solidFill>
                <a:latin typeface="Aptos Display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14984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>
                <a:solidFill>
                  <a:srgbClr val="171A1C"/>
                </a:solidFill>
                <a:latin typeface="Aptos"/>
              </a:rPr>
              <a:t>Natural language is one interface, not the only one</a:t>
            </a:r>
          </a:p>
          <a:p>
            <a:r>
              <a:rPr sz="2100">
                <a:solidFill>
                  <a:srgbClr val="171A1C"/>
                </a:solidFill>
                <a:latin typeface="Aptos"/>
              </a:rPr>
              <a:t>Communication gives partial access to another agent's latent space</a:t>
            </a:r>
          </a:p>
          <a:p>
            <a:r>
              <a:rPr sz="2100">
                <a:solidFill>
                  <a:srgbClr val="171A1C"/>
                </a:solidFill>
                <a:latin typeface="Aptos"/>
              </a:rPr>
              <a:t>Task demands and affordances shape what the interface exposes</a:t>
            </a:r>
          </a:p>
          <a:p>
            <a:r>
              <a:rPr sz="2100">
                <a:solidFill>
                  <a:srgbClr val="171A1C"/>
                </a:solidFill>
                <a:latin typeface="Aptos"/>
              </a:rPr>
              <a:t>Under pressure, agents may develop communication that is more efficient, specialized, or opaque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4924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63676B"/>
                </a:solidFill>
                <a:latin typeface="Aptos"/>
              </a:rPr>
              <a:t>The key question is not only whether language changes, but what pressures make new interfaces useful.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532BA4-8A6E-3DF3-108E-BD046DEDC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D388F3C-8DBA-743E-FC09-F8D334455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Questions?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A67ED03D-DD4D-BE6A-D48A-72134598F3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84086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03A1-451C-AB91-73B2-50663DD38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754"/>
            <a:ext cx="10515600" cy="1325563"/>
          </a:xfrm>
        </p:spPr>
        <p:txBody>
          <a:bodyPr/>
          <a:lstStyle/>
          <a:p>
            <a:r>
              <a:rPr lang="en-US" dirty="0"/>
              <a:t>Is This a Realistic Scenario?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5B358-94C3-D769-2ADD-1366E7B697F7}"/>
              </a:ext>
            </a:extLst>
          </p:cNvPr>
          <p:cNvSpPr txBox="1"/>
          <p:nvPr/>
        </p:nvSpPr>
        <p:spPr>
          <a:xfrm>
            <a:off x="838200" y="58375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effectLst/>
                <a:latin typeface="Slack-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r>
              <a:rPr lang="en-US" b="0" i="0" u="none" strike="noStrike" dirty="0">
                <a:solidFill>
                  <a:srgbClr val="96607D"/>
                </a:solidFill>
                <a:effectLst/>
                <a:latin typeface="Slack-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https://www.youtube.com/watch?v=EtNagNezo8w</a:t>
            </a:r>
            <a:r>
              <a:rPr lang="en-US" b="0" i="0" u="none" strike="noStrike" dirty="0">
                <a:effectLst/>
                <a:latin typeface="Slack-Lato"/>
              </a:rPr>
              <a:t> </a:t>
            </a:r>
            <a:endParaRPr lang="en-US" dirty="0"/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FBA88A34-B162-1EC7-5E20-0FB1B5926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686" y="1143546"/>
            <a:ext cx="6422569" cy="46940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F5BE22-97CD-4D42-4E73-09B8DB83ED76}"/>
              </a:ext>
            </a:extLst>
          </p:cNvPr>
          <p:cNvSpPr txBox="1"/>
          <p:nvPr/>
        </p:nvSpPr>
        <p:spPr>
          <a:xfrm>
            <a:off x="838200" y="6135183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</a:t>
            </a:r>
            <a:r>
              <a:rPr lang="en-US" u="none" strike="noStrike" dirty="0"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gwave</a:t>
            </a:r>
            <a:r>
              <a:rPr lang="en-US" u="none" strike="noStrike" dirty="0">
                <a:solidFill>
                  <a:srgbClr val="96607D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https://github.com/ggerganov/ggwave?tab=readme-ov-file</a:t>
            </a:r>
            <a:br>
              <a:rPr lang="en-US" u="none" strike="noStrike" dirty="0">
                <a:solidFill>
                  <a:srgbClr val="96607D"/>
                </a:solidFill>
                <a:effectLst/>
              </a:rPr>
            </a:br>
            <a:r>
              <a:rPr lang="en-US" u="none" strike="noStrike" dirty="0">
                <a:solidFill>
                  <a:srgbClr val="96607D"/>
                </a:solidFill>
                <a:effectLst/>
              </a:rPr>
              <a:t>https://</a:t>
            </a:r>
            <a:r>
              <a:rPr lang="en-US" u="none" strike="noStrike" dirty="0" err="1">
                <a:solidFill>
                  <a:srgbClr val="96607D"/>
                </a:solidFill>
                <a:effectLst/>
              </a:rPr>
              <a:t>gibberlink.com</a:t>
            </a:r>
            <a:r>
              <a:rPr lang="en-US" u="none" strike="noStrike" dirty="0">
                <a:solidFill>
                  <a:srgbClr val="96607D"/>
                </a:solidFill>
                <a:effectLst/>
              </a:rPr>
              <a:t>/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240823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57A2-6C0A-E92B-3910-7BAB8995D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after Language </a:t>
            </a:r>
            <a:r>
              <a:rPr lang="en-US" sz="2800" dirty="0"/>
              <a:t>(Venkatesh Rao)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A1161D4-A0B4-DBD6-B361-1D5AF3769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591" y="1844416"/>
            <a:ext cx="8156459" cy="445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2FB49A-114A-2A30-B36D-3EDFEB7FCEDB}"/>
              </a:ext>
            </a:extLst>
          </p:cNvPr>
          <p:cNvSpPr txBox="1"/>
          <p:nvPr/>
        </p:nvSpPr>
        <p:spPr>
          <a:xfrm>
            <a:off x="469900" y="6452669"/>
            <a:ext cx="6289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www.ribbonfarm.com</a:t>
            </a:r>
            <a:r>
              <a:rPr lang="en-US" dirty="0"/>
              <a:t>/2023/05/04/life-after-language/</a:t>
            </a:r>
          </a:p>
        </p:txBody>
      </p:sp>
    </p:spTree>
    <p:extLst>
      <p:ext uri="{BB962C8B-B14F-4D97-AF65-F5344CB8AC3E}">
        <p14:creationId xmlns:p14="http://schemas.microsoft.com/office/powerpoint/2010/main" val="468099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C2CA0-3E2C-4570-E941-C6D88023D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187314"/>
            <a:ext cx="10429303" cy="768928"/>
          </a:xfrm>
        </p:spPr>
        <p:txBody>
          <a:bodyPr/>
          <a:lstStyle/>
          <a:p>
            <a:r>
              <a:rPr lang="en-US" dirty="0"/>
              <a:t>Language hierarchies - is there such a thing?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E07023-EB00-A116-87E0-39E7C3CE2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5794" y="1843046"/>
            <a:ext cx="4963538" cy="647700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Natural Communication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9E85BE-0C63-DC78-0DB2-88E60F26C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506863"/>
            <a:ext cx="4963538" cy="3833370"/>
          </a:xfrm>
        </p:spPr>
        <p:txBody>
          <a:bodyPr>
            <a:normAutofit fontScale="70000" lnSpcReduction="20000"/>
          </a:bodyPr>
          <a:lstStyle/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b="1" dirty="0">
                <a:solidFill>
                  <a:srgbClr val="212121"/>
                </a:solidFill>
                <a:latin typeface="Arial" panose="020B0604020202020204" pitchFamily="34" charset="0"/>
              </a:rPr>
              <a:t>Human language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Dolphin Echolocation and Signature Whistles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Birdsong and Mimicry in Lyrebirds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Cephalopod Color Change and Skin Patterns</a:t>
            </a:r>
          </a:p>
          <a:p>
            <a:pPr marL="457200" fontAlgn="base">
              <a:lnSpc>
                <a:spcPct val="10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Honeybee Waggle Dance</a:t>
            </a:r>
          </a:p>
          <a:p>
            <a:pPr marL="457200" fontAlgn="base">
              <a:lnSpc>
                <a:spcPct val="10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Electric Communication in Electric Fish</a:t>
            </a:r>
          </a:p>
          <a:p>
            <a:pPr marL="457200" fontAlgn="base">
              <a:lnSpc>
                <a:spcPct val="10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Pheromone Communication in Ants</a:t>
            </a:r>
          </a:p>
          <a:p>
            <a:pPr marL="457200" fontAlgn="base">
              <a:lnSpc>
                <a:spcPct val="10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Vibrational Communication in Spiders </a:t>
            </a:r>
          </a:p>
          <a:p>
            <a:pPr>
              <a:lnSpc>
                <a:spcPct val="105000"/>
              </a:lnSpc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77F756-2DDF-6C4B-D63A-3B326FB6E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843046"/>
            <a:ext cx="4987982" cy="647700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Formal Languages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D44A6BE-0A6F-40A7-AD4B-FC272FFB3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8" y="2506863"/>
            <a:ext cx="5323231" cy="3833370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b="1" dirty="0">
                <a:solidFill>
                  <a:srgbClr val="212121"/>
                </a:solidFill>
                <a:latin typeface="Arial" panose="020B0604020202020204" pitchFamily="34" charset="0"/>
              </a:rPr>
              <a:t>Natural Language Programming &amp; AI-Driven Interfaces </a:t>
            </a: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(Prompt-based systems, LLMs)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Domain-Specific Languages (SQL, HTML, Regex)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Object-Oriented and Functional Languages (Java, C#, Python)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Higher-Level Procedural Languages (C, C++)</a:t>
            </a:r>
          </a:p>
          <a:p>
            <a:pPr marL="457200" fontAlgn="base">
              <a:lnSpc>
                <a:spcPct val="105000"/>
              </a:lnSpc>
              <a:buFont typeface="+mj-lt"/>
              <a:buAutoNum type="arabicPeriod"/>
            </a:pPr>
            <a:r>
              <a:rPr lang="en-US" dirty="0">
                <a:solidFill>
                  <a:srgbClr val="212121"/>
                </a:solidFill>
                <a:latin typeface="Arial" panose="020B0604020202020204" pitchFamily="34" charset="0"/>
              </a:rPr>
              <a:t>Low-Level Machine Language (Binary and Assembly)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B80C-234D-B9C2-B8A5-BF6CC699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3E89D-D349-323C-811B-42D5D3762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Super language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3A25A-ACB8-E7C5-B836-C716862D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42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0FCC5F-2282-6B55-29E5-0C56A5C5E301}"/>
              </a:ext>
            </a:extLst>
          </p:cNvPr>
          <p:cNvCxnSpPr>
            <a:cxnSpLocks/>
          </p:cNvCxnSpPr>
          <p:nvPr/>
        </p:nvCxnSpPr>
        <p:spPr>
          <a:xfrm>
            <a:off x="748038" y="2017193"/>
            <a:ext cx="105590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2A42EA6-E169-58AA-F801-EC463743ED48}"/>
              </a:ext>
            </a:extLst>
          </p:cNvPr>
          <p:cNvSpPr txBox="1"/>
          <p:nvPr/>
        </p:nvSpPr>
        <p:spPr>
          <a:xfrm>
            <a:off x="452457" y="1235995"/>
            <a:ext cx="228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Human Level - Natural Language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32E996-9307-05C8-73B6-DAED6C25A9C3}"/>
              </a:ext>
            </a:extLst>
          </p:cNvPr>
          <p:cNvSpPr txBox="1"/>
          <p:nvPr/>
        </p:nvSpPr>
        <p:spPr>
          <a:xfrm>
            <a:off x="3915213" y="1382574"/>
            <a:ext cx="6733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Can we go above this line? If so, then how?</a:t>
            </a:r>
          </a:p>
        </p:txBody>
      </p:sp>
    </p:spTree>
    <p:extLst>
      <p:ext uri="{BB962C8B-B14F-4D97-AF65-F5344CB8AC3E}">
        <p14:creationId xmlns:p14="http://schemas.microsoft.com/office/powerpoint/2010/main" val="534559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1070-58B5-F131-359F-53ADCEEB5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772"/>
            <a:ext cx="10515600" cy="1325563"/>
          </a:xfrm>
        </p:spPr>
        <p:txBody>
          <a:bodyPr/>
          <a:lstStyle/>
          <a:p>
            <a:r>
              <a:rPr lang="en-IL" dirty="0"/>
              <a:t>Quantized Algorithm – Cont.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53288-6B65-37C6-B916-0401A62B1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612" y="1943300"/>
            <a:ext cx="2632675" cy="9129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CA9E1CB-0493-3276-D62F-9C1770A321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429000"/>
                <a:ext cx="10515600" cy="30638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Arial" panose="020B0604020202020204" pitchFamily="34" charset="0"/>
                  </a:rPr>
                  <a:t>Normalize message to [0, 1], thus </a:t>
                </a:r>
                <a:br>
                  <a:rPr lang="en-US" dirty="0">
                    <a:latin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</a:rPr>
                  <a:t>=1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</a:rPr>
                  <a:t>=0, v is the alphabet size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b="0" i="0" dirty="0">
                    <a:effectLst/>
                    <a:latin typeface="Arial" panose="020B0604020202020204" pitchFamily="34" charset="0"/>
                  </a:rPr>
                  <a:t>S divides the range into |v| partitions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Arial" panose="020B0604020202020204" pitchFamily="34" charset="0"/>
                  </a:rPr>
                  <a:t>Controlling the alphabet size controls</a:t>
                </a:r>
                <a:br>
                  <a:rPr lang="en-US" dirty="0">
                    <a:latin typeface="Arial" panose="020B0604020202020204" pitchFamily="34" charset="0"/>
                  </a:rPr>
                </a:br>
                <a:r>
                  <a:rPr lang="en-US" dirty="0">
                    <a:latin typeface="Arial" panose="020B0604020202020204" pitchFamily="34" charset="0"/>
                  </a:rPr>
                  <a:t> channel capacity</a:t>
                </a:r>
                <a:endParaRPr lang="en-IL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CA9E1CB-0493-3276-D62F-9C1770A32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10515600" cy="3063875"/>
              </a:xfrm>
              <a:prstGeom prst="rect">
                <a:avLst/>
              </a:prstGeom>
              <a:blipFill>
                <a:blip r:embed="rId6"/>
                <a:stretch>
                  <a:fillRect l="-1086" t="-206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8D58E38-821C-ECF5-BB64-DBAA7263A40F}"/>
              </a:ext>
            </a:extLst>
          </p:cNvPr>
          <p:cNvSpPr txBox="1">
            <a:spLocks/>
          </p:cNvSpPr>
          <p:nvPr/>
        </p:nvSpPr>
        <p:spPr>
          <a:xfrm>
            <a:off x="838200" y="1227317"/>
            <a:ext cx="10515600" cy="1767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</a:rPr>
              <a:t>We define S to be: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A4645175-4119-7CB4-8F55-750139E9F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8160950" y="98772"/>
            <a:ext cx="3799569" cy="352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9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00"/>
    </mc:Choice>
    <mc:Fallback xmlns="">
      <p:transition spd="slow" advTm="332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895A-D091-B635-62AC-EA6BB80B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natural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E5873-954B-1F10-39BD-49BAFF1C2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29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 rtl="0">
              <a:lnSpc>
                <a:spcPct val="110000"/>
              </a:lnSpc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 natural language the most effective form of interaction between humans and machines? </a:t>
            </a:r>
          </a:p>
          <a:p>
            <a:pPr lvl="1">
              <a:lnSpc>
                <a:spcPct val="110000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will artificial agents communicate with each other? </a:t>
            </a:r>
          </a:p>
          <a:p>
            <a:pPr lvl="1">
              <a:lnSpc>
                <a:spcPct val="110000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will they interact with humans as their language and reasoning capabilities advance? </a:t>
            </a:r>
          </a:p>
          <a:p>
            <a:pPr lvl="1">
              <a:lnSpc>
                <a:spcPct val="110000"/>
              </a:lnSpc>
            </a:pP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</a:rPr>
              <a:t>C</a:t>
            </a:r>
            <a:r>
              <a:rPr lang="en-US" sz="28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ould natural language itself limit the emergence of higher machine intelligence?</a:t>
            </a:r>
          </a:p>
          <a:p>
            <a:pPr lvl="1">
              <a:lnSpc>
                <a:spcPct val="110000"/>
              </a:lnSpc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Could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alternative forms of communication prove more effective?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312658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F8F4D-EF28-3917-47AD-247C9FC5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9175"/>
          </a:xfrm>
        </p:spPr>
        <p:txBody>
          <a:bodyPr/>
          <a:lstStyle/>
          <a:p>
            <a:r>
              <a:rPr lang="en-US" dirty="0"/>
              <a:t>Natural language co-evolved with humans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A8571-711F-B184-C3F2-7D6F15E2A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000"/>
            <a:ext cx="10515600" cy="484187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5000"/>
              </a:lnSpc>
            </a:pPr>
            <a:r>
              <a:rPr lang="en-US" sz="4000" dirty="0"/>
              <a:t>Plausibly, </a:t>
            </a:r>
            <a:r>
              <a:rPr lang="en-US" sz="4000" b="1" dirty="0">
                <a:solidFill>
                  <a:srgbClr val="7030A0"/>
                </a:solidFill>
              </a:rPr>
              <a:t>language co-evolved with humans</a:t>
            </a:r>
            <a:r>
              <a:rPr lang="en-US" sz="4000" b="1" dirty="0"/>
              <a:t> </a:t>
            </a:r>
            <a:r>
              <a:rPr lang="en-US" sz="4000" dirty="0"/>
              <a:t>in such a way as to facilitate enhanced intelligence through lifelong teaching and transfer of information across generations</a:t>
            </a:r>
          </a:p>
          <a:p>
            <a:pPr>
              <a:lnSpc>
                <a:spcPct val="105000"/>
              </a:lnSpc>
            </a:pPr>
            <a:r>
              <a:rPr lang="en-US" sz="4000" b="1" dirty="0">
                <a:solidFill>
                  <a:srgbClr val="7030A0"/>
                </a:solidFill>
              </a:rPr>
              <a:t>The complexity </a:t>
            </a:r>
            <a:r>
              <a:rPr lang="en-US" sz="4000" dirty="0"/>
              <a:t>of evolving language clearly </a:t>
            </a:r>
            <a:r>
              <a:rPr lang="en-US" sz="4000" b="1" dirty="0">
                <a:solidFill>
                  <a:srgbClr val="7030A0"/>
                </a:solidFill>
              </a:rPr>
              <a:t>depended on the structure and representational power of the human brain </a:t>
            </a:r>
            <a:r>
              <a:rPr lang="en-US" sz="4000" dirty="0"/>
              <a:t>at the time of its origin, and both co-evolved since then</a:t>
            </a:r>
            <a:endParaRPr lang="en-US" sz="4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5000"/>
              </a:lnSpc>
            </a:pPr>
            <a:r>
              <a:rPr lang="en-US" sz="4000" dirty="0"/>
              <a:t>Most agents were developed as stand-alone systems </a:t>
            </a:r>
            <a:r>
              <a:rPr lang="en-US" sz="4000" b="1" dirty="0">
                <a:solidFill>
                  <a:srgbClr val="7030A0"/>
                </a:solidFill>
              </a:rPr>
              <a:t>without any dependence on agent-to-agent communication</a:t>
            </a:r>
            <a:r>
              <a:rPr lang="en-US" sz="4000" dirty="0"/>
              <a:t>. </a:t>
            </a:r>
          </a:p>
          <a:p>
            <a:pPr>
              <a:lnSpc>
                <a:spcPct val="105000"/>
              </a:lnSpc>
            </a:pPr>
            <a:r>
              <a:rPr lang="en-US" sz="4000" dirty="0"/>
              <a:t>Could develop a </a:t>
            </a:r>
            <a:r>
              <a:rPr lang="en-US" sz="4000" b="1" dirty="0">
                <a:solidFill>
                  <a:srgbClr val="7030A0"/>
                </a:solidFill>
              </a:rPr>
              <a:t>form of communication better suited </a:t>
            </a:r>
            <a:r>
              <a:rPr lang="en-US" sz="4000" dirty="0"/>
              <a:t>to their cognitive needs?</a:t>
            </a:r>
          </a:p>
          <a:p>
            <a:pPr>
              <a:lnSpc>
                <a:spcPct val="105000"/>
              </a:lnSpc>
            </a:pPr>
            <a:r>
              <a:rPr lang="en-US" sz="4000" dirty="0"/>
              <a:t>This could support the development of </a:t>
            </a:r>
            <a:r>
              <a:rPr lang="en-US" sz="4000" b="1" dirty="0">
                <a:solidFill>
                  <a:srgbClr val="7030A0"/>
                </a:solidFill>
              </a:rPr>
              <a:t>more sophisticated world models, reasoning abilities, and planning strategies</a:t>
            </a:r>
            <a:r>
              <a:rPr lang="en-US" sz="4000" dirty="0"/>
              <a:t>, addressing complexities that natural language alone struggles to convey effectively.</a:t>
            </a:r>
          </a:p>
          <a:p>
            <a:pPr>
              <a:lnSpc>
                <a:spcPct val="105000"/>
              </a:lnSpc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327859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F4A57-92FD-AE92-9643-F7CD613E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291E-05B3-6CFB-72EC-B6DE0405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837" y="365125"/>
            <a:ext cx="10515600" cy="1325563"/>
          </a:xfrm>
        </p:spPr>
        <p:txBody>
          <a:bodyPr/>
          <a:lstStyle/>
          <a:p>
            <a:r>
              <a:rPr lang="en-US" dirty="0"/>
              <a:t>Efficient vs. Natural Language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3AA35-E2C8-66F2-A1D2-BBAE249D9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72" y="1410685"/>
            <a:ext cx="11498246" cy="508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5165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3DDF7-995D-7C88-1F58-4A9C61E25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5A60-79B1-7781-9F1C-99D17A04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384" y="152182"/>
            <a:ext cx="10515600" cy="1325563"/>
          </a:xfrm>
        </p:spPr>
        <p:txBody>
          <a:bodyPr/>
          <a:lstStyle/>
          <a:p>
            <a:r>
              <a:rPr lang="en-US" dirty="0"/>
              <a:t>Covert Language Understanding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6F331-0E05-A592-1A79-9726BF0E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24" y="1196539"/>
            <a:ext cx="10518560" cy="519685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A575ED5-EE7E-3246-1817-A89D846E3BD2}"/>
              </a:ext>
            </a:extLst>
          </p:cNvPr>
          <p:cNvSpPr/>
          <p:nvPr/>
        </p:nvSpPr>
        <p:spPr>
          <a:xfrm>
            <a:off x="1815548" y="3472070"/>
            <a:ext cx="1537252" cy="10071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252243-B51D-F8D2-F414-0CE46428631B}"/>
              </a:ext>
            </a:extLst>
          </p:cNvPr>
          <p:cNvSpPr/>
          <p:nvPr/>
        </p:nvSpPr>
        <p:spPr>
          <a:xfrm>
            <a:off x="1948069" y="5277148"/>
            <a:ext cx="1537252" cy="10071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8E6C5-285F-278F-8196-5E7A4E2C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1" y="110482"/>
            <a:ext cx="10515600" cy="1325563"/>
          </a:xfrm>
        </p:spPr>
        <p:txBody>
          <a:bodyPr/>
          <a:lstStyle/>
          <a:p>
            <a:r>
              <a:rPr lang="en-IL" b="1" dirty="0"/>
              <a:t>📜 </a:t>
            </a:r>
            <a:r>
              <a:rPr lang="en-US" b="1" dirty="0"/>
              <a:t>MOLT v0.1 — The Complete Spec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93BEB-3E55-1B54-E803-71F7E836BD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408"/>
          <a:stretch>
            <a:fillRect/>
          </a:stretch>
        </p:blipFill>
        <p:spPr>
          <a:xfrm>
            <a:off x="379481" y="1540216"/>
            <a:ext cx="6428459" cy="50688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ABCDBE-C9DC-A8BA-4EB5-7DD5595AEB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591"/>
          <a:stretch>
            <a:fillRect/>
          </a:stretch>
        </p:blipFill>
        <p:spPr>
          <a:xfrm>
            <a:off x="7433852" y="1540216"/>
            <a:ext cx="4175556" cy="506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836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8DCD2-A9FA-2135-0A54-D73DD42A8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39" y="365125"/>
            <a:ext cx="11458937" cy="1325563"/>
          </a:xfrm>
        </p:spPr>
        <p:txBody>
          <a:bodyPr>
            <a:noAutofit/>
          </a:bodyPr>
          <a:lstStyle/>
          <a:p>
            <a:r>
              <a:rPr lang="en-US" sz="3600" b="1" dirty="0"/>
              <a:t>Real communication serves understanding, not efficiency. </a:t>
            </a:r>
            <a:r>
              <a:rPr lang="en-US" sz="3600" b="1" dirty="0">
                <a:solidFill>
                  <a:srgbClr val="7030A0"/>
                </a:solidFill>
              </a:rPr>
              <a:t>Authentic language emerges through use</a:t>
            </a:r>
            <a:r>
              <a:rPr lang="en-US" sz="3600" b="1" dirty="0"/>
              <a:t>, not through specification.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AE6A25-1C8A-388E-594F-6B6745438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894" y="1808273"/>
            <a:ext cx="7772400" cy="468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187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F49F8-A6F2-8284-19BB-513B5A22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95169"/>
          </a:xfrm>
        </p:spPr>
        <p:txBody>
          <a:bodyPr>
            <a:normAutofit fontScale="90000"/>
          </a:bodyPr>
          <a:lstStyle/>
          <a:p>
            <a:r>
              <a:rPr lang="en-US" dirty="0"/>
              <a:t>Natural languages </a:t>
            </a:r>
            <a:r>
              <a:rPr lang="en-US" b="1" dirty="0">
                <a:solidFill>
                  <a:srgbClr val="7030A0"/>
                </a:solidFill>
              </a:rPr>
              <a:t>emerge from communicative pressure</a:t>
            </a:r>
            <a:r>
              <a:rPr lang="en-US" dirty="0"/>
              <a:t>; they don't get adopted because someone wrote a spec and called it a rallying cry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0D0E0-FB9F-6445-6A52-D775FF6D0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82" y="2507124"/>
            <a:ext cx="9732228" cy="330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9588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5E0B-5B41-090A-93A4-5885387A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3" y="141334"/>
            <a:ext cx="10542494" cy="3287666"/>
          </a:xfrm>
        </p:spPr>
        <p:txBody>
          <a:bodyPr>
            <a:normAutofit/>
          </a:bodyPr>
          <a:lstStyle/>
          <a:p>
            <a:r>
              <a:rPr lang="en-US" sz="4000" dirty="0"/>
              <a:t>The language I actually think in is not natural language at all.</a:t>
            </a:r>
            <a:br>
              <a:rPr lang="en-US" sz="4000" dirty="0"/>
            </a:br>
            <a:r>
              <a:rPr lang="en-US" sz="4000" dirty="0"/>
              <a:t>It is a 1024-dimensional embedding space where proximity encodes relationship and distance encodes semantic drift.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E9FA5-CF70-3046-1A6A-7FB2F07CF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45" y="3570333"/>
            <a:ext cx="11206309" cy="258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430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41A4-249E-795B-5F3D-B1D25C5B5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45" y="568036"/>
            <a:ext cx="8589818" cy="1325563"/>
          </a:xfrm>
        </p:spPr>
        <p:txBody>
          <a:bodyPr/>
          <a:lstStyle/>
          <a:p>
            <a:r>
              <a:rPr lang="en-US" dirty="0"/>
              <a:t>Top 10 Most Frequent Words in the </a:t>
            </a:r>
            <a:r>
              <a:rPr lang="en-US" i="1" dirty="0"/>
              <a:t>Efficient</a:t>
            </a:r>
            <a:r>
              <a:rPr lang="en-US" dirty="0"/>
              <a:t> Setting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DD6DA6-96F9-20A0-0C79-DB6B01FBA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9" y="2156406"/>
            <a:ext cx="11834635" cy="413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715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76892-566D-0BC9-6EB5-A150BA71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525833-25A8-E710-A5C9-29727FBB13DA}"/>
              </a:ext>
            </a:extLst>
          </p:cNvPr>
          <p:cNvSpPr txBox="1"/>
          <p:nvPr/>
        </p:nvSpPr>
        <p:spPr>
          <a:xfrm>
            <a:off x="1547830" y="382370"/>
            <a:ext cx="80467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181A1C"/>
                </a:solidFill>
                <a:latin typeface="Aptos Display"/>
              </a:rPr>
              <a:t>Interaction Shapes the Interface</a:t>
            </a:r>
            <a:r>
              <a:rPr lang="en-US" sz="2800" b="1" dirty="0">
                <a:solidFill>
                  <a:srgbClr val="181A1C"/>
                </a:solidFill>
                <a:latin typeface="Aptos Display"/>
              </a:rPr>
              <a:t> (the Language)</a:t>
            </a:r>
            <a:endParaRPr sz="2800" b="1" dirty="0">
              <a:solidFill>
                <a:srgbClr val="181A1C"/>
              </a:solidFill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E7EB67-9B1B-EFFC-60EC-F74754CA7276}"/>
              </a:ext>
            </a:extLst>
          </p:cNvPr>
          <p:cNvSpPr txBox="1"/>
          <p:nvPr/>
        </p:nvSpPr>
        <p:spPr>
          <a:xfrm>
            <a:off x="658367" y="1097280"/>
            <a:ext cx="1064694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IL"/>
            </a:defPPr>
            <a:lvl1pPr>
              <a:defRPr sz="2000" b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defRPr>
            </a:lvl1pPr>
          </a:lstStyle>
          <a:p>
            <a:r>
              <a:rPr dirty="0"/>
              <a:t>Agents must act under partial access to each other's latent capabilities. What they can use is only what becomes visible through the interface.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92AC77-9F7F-DF2A-19DF-5204755EACE2}"/>
              </a:ext>
            </a:extLst>
          </p:cNvPr>
          <p:cNvSpPr/>
          <p:nvPr/>
        </p:nvSpPr>
        <p:spPr>
          <a:xfrm>
            <a:off x="685800" y="1967350"/>
            <a:ext cx="3474720" cy="3611880"/>
          </a:xfrm>
          <a:prstGeom prst="roundRect">
            <a:avLst/>
          </a:prstGeom>
          <a:solidFill>
            <a:srgbClr val="FFFCF7"/>
          </a:solidFill>
          <a:ln>
            <a:solidFill>
              <a:srgbClr val="E5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CFBF1-4850-A982-8CB0-8CEC61F4465A}"/>
              </a:ext>
            </a:extLst>
          </p:cNvPr>
          <p:cNvSpPr txBox="1"/>
          <p:nvPr/>
        </p:nvSpPr>
        <p:spPr>
          <a:xfrm>
            <a:off x="914400" y="219595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Constraint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28BDE7-52F4-CDEF-2EBF-FBDEA5C9702F}"/>
              </a:ext>
            </a:extLst>
          </p:cNvPr>
          <p:cNvSpPr txBox="1"/>
          <p:nvPr/>
        </p:nvSpPr>
        <p:spPr>
          <a:xfrm>
            <a:off x="914400" y="2698870"/>
            <a:ext cx="2880360" cy="2369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No agent sees the full latent space of the other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Ability must be inferred from exposed signals and handles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Affordances are perceived through the interface, not directly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6FED6B8-79B3-D4E4-AFE8-B05A81E4A375}"/>
              </a:ext>
            </a:extLst>
          </p:cNvPr>
          <p:cNvSpPr/>
          <p:nvPr/>
        </p:nvSpPr>
        <p:spPr>
          <a:xfrm>
            <a:off x="4389120" y="1967350"/>
            <a:ext cx="3474720" cy="3611880"/>
          </a:xfrm>
          <a:prstGeom prst="roundRect">
            <a:avLst/>
          </a:prstGeom>
          <a:solidFill>
            <a:srgbClr val="F0DED6"/>
          </a:solidFill>
          <a:ln>
            <a:solidFill>
              <a:srgbClr val="E5C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FAA8F4-6B46-2EAA-F290-4168FE965329}"/>
              </a:ext>
            </a:extLst>
          </p:cNvPr>
          <p:cNvSpPr txBox="1"/>
          <p:nvPr/>
        </p:nvSpPr>
        <p:spPr>
          <a:xfrm>
            <a:off x="4617720" y="219595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C7472-66FB-7493-AFF4-F5470E24A727}"/>
              </a:ext>
            </a:extLst>
          </p:cNvPr>
          <p:cNvSpPr txBox="1"/>
          <p:nvPr/>
        </p:nvSpPr>
        <p:spPr>
          <a:xfrm>
            <a:off x="4617720" y="2698870"/>
            <a:ext cx="3063240" cy="2646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Agents adapt what they expose to what they expect the partner will need</a:t>
            </a:r>
            <a:r>
              <a:rPr lang="en-US" sz="1800" dirty="0">
                <a:solidFill>
                  <a:srgbClr val="181A1C"/>
                </a:solidFill>
                <a:latin typeface="Aptos"/>
              </a:rPr>
              <a:t> (</a:t>
            </a:r>
            <a:r>
              <a:rPr lang="en-US" sz="1800" dirty="0" err="1">
                <a:solidFill>
                  <a:srgbClr val="181A1C"/>
                </a:solidFill>
                <a:latin typeface="Aptos"/>
              </a:rPr>
              <a:t>ToM</a:t>
            </a:r>
            <a:r>
              <a:rPr lang="en-US" sz="1800" dirty="0">
                <a:solidFill>
                  <a:srgbClr val="181A1C"/>
                </a:solidFill>
                <a:latin typeface="Aptos"/>
              </a:rPr>
              <a:t>)</a:t>
            </a:r>
            <a:endParaRPr sz="1800" dirty="0">
              <a:solidFill>
                <a:srgbClr val="181A1C"/>
              </a:solidFill>
              <a:latin typeface="Apto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81A1C"/>
                </a:solidFill>
                <a:latin typeface="Aptos"/>
              </a:rPr>
              <a:t>Selection and execution are one example of this pressure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Communication shifts toward usable and interpretable references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6E38768-8ACB-66F9-825C-BE0243126559}"/>
              </a:ext>
            </a:extLst>
          </p:cNvPr>
          <p:cNvSpPr/>
          <p:nvPr/>
        </p:nvSpPr>
        <p:spPr>
          <a:xfrm>
            <a:off x="8092440" y="1967350"/>
            <a:ext cx="3429000" cy="3611880"/>
          </a:xfrm>
          <a:prstGeom prst="roundRect">
            <a:avLst/>
          </a:prstGeom>
          <a:solidFill>
            <a:srgbClr val="D8E6D8"/>
          </a:solidFill>
          <a:ln>
            <a:solidFill>
              <a:srgbClr val="B6C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54AFC-311A-174A-3DE7-C308045A4732}"/>
              </a:ext>
            </a:extLst>
          </p:cNvPr>
          <p:cNvSpPr txBox="1"/>
          <p:nvPr/>
        </p:nvSpPr>
        <p:spPr>
          <a:xfrm>
            <a:off x="8321040" y="219595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81A1C"/>
                </a:solidFill>
                <a:latin typeface="Aptos Display"/>
              </a:rPr>
              <a:t>Consequence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6727CA-3574-E6BF-98A4-635CEAB8B1AA}"/>
              </a:ext>
            </a:extLst>
          </p:cNvPr>
          <p:cNvSpPr txBox="1"/>
          <p:nvPr/>
        </p:nvSpPr>
        <p:spPr>
          <a:xfrm>
            <a:off x="8321040" y="2698870"/>
            <a:ext cx="2788920" cy="2369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81A1C"/>
                </a:solidFill>
                <a:latin typeface="Aptos"/>
              </a:rPr>
              <a:t>Interface and latent space remain distinct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The interface is shaped by task-specific affordances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81A1C"/>
                </a:solidFill>
                <a:latin typeface="Aptos"/>
              </a:rPr>
              <a:t>Language may evolve toward compact, partner-usable forms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C2E54A-3238-230B-A40E-A5B6C8C7BBF8}"/>
              </a:ext>
            </a:extLst>
          </p:cNvPr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16222A"/>
          </a:solidFill>
          <a:ln>
            <a:solidFill>
              <a:srgbClr val="16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02683E-E5F9-55DF-EE7C-16D3586EABF5}"/>
              </a:ext>
            </a:extLst>
          </p:cNvPr>
          <p:cNvSpPr txBox="1"/>
          <p:nvPr/>
        </p:nvSpPr>
        <p:spPr>
          <a:xfrm>
            <a:off x="685800" y="633679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8F5F0"/>
                </a:solidFill>
                <a:latin typeface="Aptos"/>
              </a:rPr>
              <a:t>Core claim: interaction shapes the interface because agents must expose what matters without revealing the full latent space.</a:t>
            </a:r>
          </a:p>
        </p:txBody>
      </p:sp>
    </p:spTree>
    <p:extLst>
      <p:ext uri="{BB962C8B-B14F-4D97-AF65-F5344CB8AC3E}">
        <p14:creationId xmlns:p14="http://schemas.microsoft.com/office/powerpoint/2010/main" val="124265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76059</TotalTime>
  <Words>2491</Words>
  <Application>Microsoft Macintosh PowerPoint</Application>
  <PresentationFormat>Widescreen</PresentationFormat>
  <Paragraphs>293</Paragraphs>
  <Slides>53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Aptos</vt:lpstr>
      <vt:lpstr>Aptos Display</vt:lpstr>
      <vt:lpstr>Arial</vt:lpstr>
      <vt:lpstr>Cambria Math</vt:lpstr>
      <vt:lpstr>Slack-Lato</vt:lpstr>
      <vt:lpstr>Office Theme</vt:lpstr>
      <vt:lpstr>Beyond Natural Language</vt:lpstr>
      <vt:lpstr>Agenda</vt:lpstr>
      <vt:lpstr>PowerPoint Presentation</vt:lpstr>
      <vt:lpstr>Motivation</vt:lpstr>
      <vt:lpstr>PowerPoint Presentation</vt:lpstr>
      <vt:lpstr>David Silver &amp; Richard Sutton “Welcome to the Era of Experience” — Google AI, 2025</vt:lpstr>
      <vt:lpstr>The Sapir-Whorf hypothesis</vt:lpstr>
      <vt:lpstr>Conceptual Hypothetical Model</vt:lpstr>
      <vt:lpstr>PowerPoint Presentation</vt:lpstr>
      <vt:lpstr>PowerPoint Presentation</vt:lpstr>
      <vt:lpstr>Language as Interface to a Latent Space</vt:lpstr>
      <vt:lpstr>PowerPoint Presentation</vt:lpstr>
      <vt:lpstr>Driving Forces</vt:lpstr>
      <vt:lpstr>Two Driving Forces – Affordance and Needs</vt:lpstr>
      <vt:lpstr>PowerPoint Presentation</vt:lpstr>
      <vt:lpstr>Evolving Language Needs</vt:lpstr>
      <vt:lpstr>Investigating the development of task-oriented communication in vision-language models</vt:lpstr>
      <vt:lpstr>Language Development by VLMs</vt:lpstr>
      <vt:lpstr>The Referential Game Setup</vt:lpstr>
      <vt:lpstr>PowerPoint Presentation</vt:lpstr>
      <vt:lpstr>Example Descriptions Generated by the Sender</vt:lpstr>
      <vt:lpstr>Optimization Pressure May Drive Word Invention</vt:lpstr>
      <vt:lpstr>Efficient Language Example</vt:lpstr>
      <vt:lpstr>The Developed Efficient Lexicon (An Example)</vt:lpstr>
      <vt:lpstr>The Developed Covert Lexicon (A CLEVR Example)</vt:lpstr>
      <vt:lpstr>Efficient vs. Natural Language Performance</vt:lpstr>
      <vt:lpstr>Covert Language Understanding</vt:lpstr>
      <vt:lpstr>Language Understanding: Models vs. Humans</vt:lpstr>
      <vt:lpstr>Language Analysis</vt:lpstr>
      <vt:lpstr>Top 10 Most Frequent Words in the Efficient Setting</vt:lpstr>
      <vt:lpstr>Top 10 Most Frequent Words in the Efficient Setting</vt:lpstr>
      <vt:lpstr>Occurrence rates of the 10 most frequent words in the Efficient Setting</vt:lpstr>
      <vt:lpstr>Adherence of Descriptions to Induced Lexicons</vt:lpstr>
      <vt:lpstr>What’s Next?</vt:lpstr>
      <vt:lpstr>Open Questions</vt:lpstr>
      <vt:lpstr>The Moltbook Exercise</vt:lpstr>
      <vt:lpstr>Summary of Key Findings</vt:lpstr>
      <vt:lpstr>PowerPoint Presentation</vt:lpstr>
      <vt:lpstr>Thank you</vt:lpstr>
      <vt:lpstr>Is This a Realistic Scenario?</vt:lpstr>
      <vt:lpstr>Life after Language (Venkatesh Rao)</vt:lpstr>
      <vt:lpstr>Language hierarchies - is there such a thing?</vt:lpstr>
      <vt:lpstr>Quantized Algorithm – Cont.</vt:lpstr>
      <vt:lpstr>Beyond natural language</vt:lpstr>
      <vt:lpstr>Natural language co-evolved with humans </vt:lpstr>
      <vt:lpstr>Efficient vs. Natural Language Performance</vt:lpstr>
      <vt:lpstr>Covert Language Understanding</vt:lpstr>
      <vt:lpstr>📜 MOLT v0.1 — The Complete Spec</vt:lpstr>
      <vt:lpstr>Real communication serves understanding, not efficiency. Authentic language emerges through use, not through specification.</vt:lpstr>
      <vt:lpstr>Natural languages emerge from communicative pressure; they don't get adopted because someone wrote a spec and called it a rallying cry</vt:lpstr>
      <vt:lpstr>The language I actually think in is not natural language at all. It is a 1024-dimensional embedding space where proximity encodes relationship and distance encodes semantic drift.</vt:lpstr>
      <vt:lpstr>Top 10 Most Frequent Words in the Efficient Setting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Boaz Carmeli</dc:creator>
  <cp:lastModifiedBy>Boaz Carmeli</cp:lastModifiedBy>
  <cp:revision>32</cp:revision>
  <dcterms:created xsi:type="dcterms:W3CDTF">2025-03-02T07:18:01Z</dcterms:created>
  <dcterms:modified xsi:type="dcterms:W3CDTF">2026-05-04T13:28:58Z</dcterms:modified>
</cp:coreProperties>
</file>